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4.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5.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6.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fdf1194-dadf-eb4c-ad2d-ea011abe757c}">
          <p14:sldIdLst>
            <p14:sldId id="256"/>
            <p14:sldId id="257"/>
            <p14:sldId id="258"/>
          </p14:sldIdLst>
        </p14:section>
        <p14:section name="Approach" id="{260b1860-b462-def6-3cd5-ccd011c81edd}">
          <p14:sldIdLst>
            <p14:sldId id="259"/>
            <p14:sldId id="260"/>
            <p14:sldId id="261"/>
          </p14:sldIdLst>
        </p14:section>
        <p14:section name="Results" id="{090a38b1-dd76-bd4d-9b2f-a722fc7b0c7f}">
          <p14:sldIdLst>
            <p14:sldId id="262"/>
            <p14:sldId id="263"/>
            <p14:sldId id="264"/>
            <p14:sldId id="265"/>
            <p14:sldId id="266"/>
            <p14:sldId id="267"/>
          </p14:sldIdLst>
        </p14:section>
        <p14:section name="Product" id="{60c011f7-57bc-ae72-7bc2-55e1de04ae5c}">
          <p14:sldIdLst>
            <p14:sldId id="268"/>
            <p14:sldId id="269"/>
          </p14:sldIdLst>
        </p14:section>
        <p14:section name="Outlook" id="{4859625b-e1a6-b517-95b3-fd4ebc6caca6}">
          <p14:sldIdLst>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2B"/>
                </a:solidFill>
                <a:latin typeface="+mn-lt"/>
              </a:defRPr>
            </a:pPr>
            <a:r>
              <a:rPr sz="1400" b="0" i="0" u="none" strike="noStrike">
                <a:solidFill>
                  <a:srgbClr val="15232B"/>
                </a:solidFill>
                <a:latin typeface="+mn-lt"/>
              </a:rPr>
              <a:t>Test AUC, 2,000 held-out people × 3 seeds</a:t>
            </a:r>
          </a:p>
        </c:rich>
      </c:tx>
      <c:layout/>
      <c:overlay val="0"/>
    </c:title>
    <c:autoTitleDeleted val="0"/>
    <c:plotArea>
      <c:layout/>
      <c:barChart>
        <c:barDir val="col"/>
        <c:grouping val="clustered"/>
        <c:varyColors val="0"/>
        <c:ser>
          <c:idx val="0"/>
          <c:order val="0"/>
          <c:tx>
            <c:strRef>
              <c:f>Sheet1!$B$1</c:f>
              <c:strCache>
                <c:ptCount val="1"/>
                <c:pt idx="0">
                  <c:v>Test AUC</c:v>
                </c:pt>
              </c:strCache>
            </c:strRef>
          </c:tx>
          <c:spPr>
            <a:solidFill>
              <a:srgbClr val="8A979E"/>
            </a:solidFill>
            <a:effectLst/>
          </c:spPr>
          <c:invertIfNegative val="0"/>
          <c:dLbls>
            <c:numFmt formatCode="0.000" sourceLinked="0"/>
            <c:txPr>
              <a:bodyPr/>
              <a:lstStyle/>
              <a:p>
                <a:pPr>
                  <a:defRPr b="0" i="0" strike="noStrike" sz="1200" u="none">
                    <a:solidFill>
                      <a:srgbClr val="15232B"/>
                    </a:solidFill>
                    <a:latin typeface="+mn-lt"/>
                  </a:defRPr>
                </a:pPr>
              </a:p>
            </c:txPr>
            <c:showLegendKey val="0"/>
            <c:showVal val="1"/>
            <c:showCatName val="0"/>
            <c:showSerName val="0"/>
            <c:showPercent val="0"/>
            <c:showBubbleSize val="0"/>
            <c:showLeaderLines val="0"/>
          </c:dLbls>
          <c:dPt>
            <c:idx val="0"/>
            <c:invertIfNegative val="0"/>
            <c:bubble3D val="0"/>
            <c:spPr>
              <a:solidFill>
                <a:srgbClr val="8A979E"/>
              </a:solidFill>
              <a:effectLst/>
            </c:spPr>
          </c:dPt>
          <c:dPt>
            <c:idx val="1"/>
            <c:invertIfNegative val="0"/>
            <c:bubble3D val="0"/>
            <c:spPr>
              <a:solidFill>
                <a:srgbClr val="8A979E"/>
              </a:solidFill>
              <a:effectLst/>
            </c:spPr>
          </c:dPt>
          <c:dPt>
            <c:idx val="2"/>
            <c:invertIfNegative val="0"/>
            <c:bubble3D val="0"/>
            <c:spPr>
              <a:solidFill>
                <a:srgbClr val="8A979E"/>
              </a:solidFill>
              <a:effectLst/>
            </c:spPr>
          </c:dPt>
          <c:dPt>
            <c:idx val="3"/>
            <c:invertIfNegative val="0"/>
            <c:bubble3D val="0"/>
            <c:spPr>
              <a:solidFill>
                <a:srgbClr val="8A979E"/>
              </a:solidFill>
              <a:effectLst/>
            </c:spPr>
          </c:dPt>
          <c:dPt>
            <c:idx val="4"/>
            <c:invertIfNegative val="0"/>
            <c:bubble3D val="0"/>
            <c:spPr>
              <a:solidFill>
                <a:srgbClr val="0A756F"/>
              </a:solidFill>
              <a:effectLst/>
            </c:spPr>
          </c:dPt>
          <c:dPt>
            <c:idx val="5"/>
            <c:invertIfNegative val="0"/>
            <c:bubble3D val="0"/>
            <c:spPr>
              <a:solidFill>
                <a:srgbClr val="0A756F"/>
              </a:solidFill>
              <a:effectLst/>
            </c:spPr>
          </c:dPt>
          <c:cat>
            <c:multiLvlStrRef>
              <c:f>Sheet1!$A$2:$A$7</c:f>
              <c:multiLvlStrCache>
                <c:ptCount val="6"/>
                <c:lvl>
                  <c:pt idx="0">
                    <c:v>BMI rule</c:v>
                  </c:pt>
                  <c:pt idx="1">
                    <c:v>IDRS</c:v>
                  </c:pt>
                  <c:pt idx="2">
                    <c:v>PRS only</c:v>
                  </c:pt>
                  <c:pt idx="3">
                    <c:v>Clinical factors</c:v>
                  </c:pt>
                  <c:pt idx="4">
                    <c:v>Clinical + genetics</c:v>
                  </c:pt>
                  <c:pt idx="5">
                    <c:v>Stacked hybrid</c:v>
                  </c:pt>
                </c:lvl>
              </c:multiLvlStrCache>
            </c:multiLvlStrRef>
          </c:cat>
          <c:val>
            <c:numRef>
              <c:f>Sheet1!$B$2:$B$7</c:f>
              <c:numCache>
                <c:formatCode>General</c:formatCode>
                <c:ptCount val="6"/>
                <c:pt idx="0">
                  <c:v>0.6685810350697992</c:v>
                </c:pt>
                <c:pt idx="1">
                  <c:v>0.7606579843377596</c:v>
                </c:pt>
                <c:pt idx="2">
                  <c:v>0.7360597548518898</c:v>
                </c:pt>
                <c:pt idx="3">
                  <c:v>0.8115534559073886</c:v>
                </c:pt>
                <c:pt idx="4">
                  <c:v>0.874483316309159</c:v>
                </c:pt>
                <c:pt idx="5">
                  <c:v>0.8765143003064351</c:v>
                </c:pt>
              </c:numCache>
            </c:numRef>
          </c:val>
        </c:ser>
        <c:dLbls>
          <c:numFmt formatCode="0.000" sourceLinked="0"/>
          <c:txPr>
            <a:bodyPr/>
            <a:lstStyle/>
            <a:p>
              <a:pPr>
                <a:defRPr b="0" i="0" strike="noStrike" sz="1200" u="none">
                  <a:solidFill>
                    <a:srgbClr val="1523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6A72"/>
                </a:solidFill>
                <a:latin typeface="+mn-lt"/>
              </a:defRPr>
            </a:pPr>
            <a:endParaRPr lang="en-US"/>
          </a:p>
        </c:txPr>
        <c:crossAx val="2094734552"/>
        <c:crosses val="autoZero"/>
        <c:auto val="1"/>
        <c:lblAlgn val="ctr"/>
        <c:noMultiLvlLbl val="1"/>
      </c:catAx>
      <c:valAx>
        <c:axId val="2094734552"/>
        <c:scaling>
          <c:orientation val="minMax"/>
          <c:max val="0.9"/>
          <c:min val="0.5"/>
        </c:scaling>
        <c:delete val="0"/>
        <c:axPos val="l"/>
        <c:majorGridlines>
          <c:spPr>
            <a:ln w="6350" cap="flat">
              <a:solidFill>
                <a:srgbClr val="D3DDE0"/>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86A72"/>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2B"/>
                </a:solidFill>
                <a:latin typeface="+mn-lt"/>
              </a:defRPr>
            </a:pPr>
            <a:r>
              <a:rPr sz="1400" b="0" i="0" u="none" strike="noStrike">
                <a:solidFill>
                  <a:srgbClr val="15232B"/>
                </a:solidFill>
                <a:latin typeface="+mn-lt"/>
              </a:rPr>
              <a:t>Lean cases caught when the top 20% by risk are screened</a:t>
            </a:r>
          </a:p>
        </c:rich>
      </c:tx>
      <c:layout/>
      <c:overlay val="0"/>
    </c:title>
    <c:autoTitleDeleted val="0"/>
    <c:plotArea>
      <c:layout/>
      <c:barChart>
        <c:barDir val="col"/>
        <c:grouping val="clustered"/>
        <c:varyColors val="0"/>
        <c:ser>
          <c:idx val="0"/>
          <c:order val="0"/>
          <c:tx>
            <c:strRef>
              <c:f>Sheet1!$B$1</c:f>
              <c:strCache>
                <c:ptCount val="1"/>
                <c:pt idx="0">
                  <c:v>Lean cases caught</c:v>
                </c:pt>
              </c:strCache>
            </c:strRef>
          </c:tx>
          <c:spPr>
            <a:solidFill>
              <a:srgbClr val="8A979E"/>
            </a:solidFill>
            <a:effectLst/>
          </c:spPr>
          <c:invertIfNegative val="0"/>
          <c:dLbls>
            <c:numFmt formatCode="0%" sourceLinked="0"/>
            <c:txPr>
              <a:bodyPr/>
              <a:lstStyle/>
              <a:p>
                <a:pPr>
                  <a:defRPr b="0" i="0" strike="noStrike" sz="1200" u="none">
                    <a:solidFill>
                      <a:srgbClr val="15232B"/>
                    </a:solidFill>
                    <a:latin typeface="+mn-lt"/>
                  </a:defRPr>
                </a:pPr>
              </a:p>
            </c:txPr>
            <c:showLegendKey val="0"/>
            <c:showVal val="1"/>
            <c:showCatName val="0"/>
            <c:showSerName val="0"/>
            <c:showPercent val="0"/>
            <c:showBubbleSize val="0"/>
            <c:showLeaderLines val="0"/>
          </c:dLbls>
          <c:dPt>
            <c:idx val="0"/>
            <c:invertIfNegative val="0"/>
            <c:bubble3D val="0"/>
            <c:spPr>
              <a:solidFill>
                <a:srgbClr val="8A979E"/>
              </a:solidFill>
              <a:effectLst/>
            </c:spPr>
          </c:dPt>
          <c:dPt>
            <c:idx val="1"/>
            <c:invertIfNegative val="0"/>
            <c:bubble3D val="0"/>
            <c:spPr>
              <a:solidFill>
                <a:srgbClr val="8A979E"/>
              </a:solidFill>
              <a:effectLst/>
            </c:spPr>
          </c:dPt>
          <c:dPt>
            <c:idx val="2"/>
            <c:invertIfNegative val="0"/>
            <c:bubble3D val="0"/>
            <c:spPr>
              <a:solidFill>
                <a:srgbClr val="8A979E"/>
              </a:solidFill>
              <a:effectLst/>
            </c:spPr>
          </c:dPt>
          <c:dPt>
            <c:idx val="3"/>
            <c:invertIfNegative val="0"/>
            <c:bubble3D val="0"/>
            <c:spPr>
              <a:solidFill>
                <a:srgbClr val="0A756F"/>
              </a:solidFill>
              <a:effectLst/>
            </c:spPr>
          </c:dPt>
          <c:cat>
            <c:multiLvlStrRef>
              <c:f>Sheet1!$A$2:$A$5</c:f>
              <c:multiLvlStrCache>
                <c:ptCount val="4"/>
                <c:lvl>
                  <c:pt idx="0">
                    <c:v>BMI rule</c:v>
                  </c:pt>
                  <c:pt idx="1">
                    <c:v>IDRS</c:v>
                  </c:pt>
                  <c:pt idx="2">
                    <c:v>Clinical factors</c:v>
                  </c:pt>
                  <c:pt idx="3">
                    <c:v>Clinical + genetics</c:v>
                  </c:pt>
                </c:lvl>
              </c:multiLvlStrCache>
            </c:multiLvlStrRef>
          </c:cat>
          <c:val>
            <c:numRef>
              <c:f>Sheet1!$B$2:$B$5</c:f>
              <c:numCache>
                <c:formatCode>General</c:formatCode>
                <c:ptCount val="4"/>
                <c:pt idx="0">
                  <c:v>0</c:v>
                </c:pt>
                <c:pt idx="1">
                  <c:v>0.3042809364548495</c:v>
                </c:pt>
                <c:pt idx="2">
                  <c:v>0.34729096989966557</c:v>
                </c:pt>
                <c:pt idx="3">
                  <c:v>0.5784169453734671</c:v>
                </c:pt>
              </c:numCache>
            </c:numRef>
          </c:val>
        </c:ser>
        <c:dLbls>
          <c:numFmt formatCode="0%" sourceLinked="0"/>
          <c:txPr>
            <a:bodyPr/>
            <a:lstStyle/>
            <a:p>
              <a:pPr>
                <a:defRPr b="0" i="0" strike="noStrike" sz="1200" u="none">
                  <a:solidFill>
                    <a:srgbClr val="15232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6A72"/>
                </a:solidFill>
                <a:latin typeface="+mn-lt"/>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D3DDE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86A72"/>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2B"/>
                </a:solidFill>
                <a:latin typeface="+mn-lt"/>
              </a:defRPr>
            </a:pPr>
            <a:r>
              <a:rPr sz="1400" b="0" i="0" u="none" strike="noStrike">
                <a:solidFill>
                  <a:srgbClr val="15232B"/>
                </a:solidFill>
                <a:latin typeface="+mn-lt"/>
              </a:rPr>
              <a:t>Planted pairs found in the top 10, by cohort size</a:t>
            </a:r>
          </a:p>
        </c:rich>
      </c:tx>
      <c:layout/>
      <c:overlay val="0"/>
    </c:title>
    <c:autoTitleDeleted val="0"/>
    <c:plotArea>
      <c:layout/>
      <c:lineChart>
        <c:varyColors val="0"/>
        <c:ser>
          <c:idx val="0"/>
          <c:order val="0"/>
          <c:tx>
            <c:strRef>
              <c:f>Sheet1!$B$1</c:f>
              <c:strCache>
                <c:ptCount val="1"/>
                <c:pt idx="0">
                  <c:v>Score test</c:v>
                </c:pt>
              </c:strCache>
            </c:strRef>
          </c:tx>
          <c:spPr>
            <a:solidFill>
              <a:srgbClr val="0A756F"/>
            </a:solidFill>
            <a:ln w="38100" cap="flat">
              <a:solidFill>
                <a:srgbClr val="0A756F"/>
              </a:solidFill>
              <a:prstDash val="solid"/>
              <a:round/>
            </a:ln>
            <a:effectLst/>
          </c:spPr>
          <c:invertIfNegative val="0"/>
          <c:dLbls>
            <c:numFmt formatCode="0%" sourceLinked="0"/>
            <c:txPr>
              <a:bodyPr/>
              <a:lstStyle/>
              <a:p>
                <a:pPr>
                  <a:defRPr b="0" i="0" strike="noStrike" sz="1200" u="none">
                    <a:solidFill>
                      <a:srgbClr val="15232B"/>
                    </a:solidFill>
                    <a:latin typeface="+mn-lt"/>
                  </a:defRPr>
                </a:pPr>
              </a:p>
            </c:txPr>
            <c:dLblPos val="t"/>
            <c:showLegendKey val="0"/>
            <c:showVal val="1"/>
            <c:showCatName val="0"/>
            <c:showSerName val="0"/>
            <c:showPercent val="0"/>
            <c:showBubbleSize val="0"/>
            <c:showLeaderLines val="0"/>
          </c:dLbls>
          <c:marker>
            <c:symbol val="circle"/>
            <c:size val="9"/>
            <c:spPr>
              <a:solidFill>
                <a:srgbClr val="0A756F"/>
              </a:solidFill>
              <a:ln w="9525" cap="flat">
                <a:solidFill>
                  <a:srgbClr val="0A756F"/>
                </a:solidFill>
                <a:prstDash val="solid"/>
                <a:round/>
              </a:ln>
              <a:effectLst/>
            </c:spPr>
          </c:marker>
          <c:cat>
            <c:multiLvlStrRef>
              <c:f>Sheet1!$A$2:$A$6</c:f>
              <c:multiLvlStrCache>
                <c:ptCount val="5"/>
                <c:lvl>
                  <c:pt idx="0">
                    <c:v>2,500</c:v>
                  </c:pt>
                  <c:pt idx="1">
                    <c:v>5,000</c:v>
                  </c:pt>
                  <c:pt idx="2">
                    <c:v>10,000</c:v>
                  </c:pt>
                  <c:pt idx="3">
                    <c:v>20,000</c:v>
                  </c:pt>
                  <c:pt idx="4">
                    <c:v>40,000</c:v>
                  </c:pt>
                </c:lvl>
              </c:multiLvlStrCache>
            </c:multiLvlStrRef>
          </c:cat>
          <c:val>
            <c:numRef>
              <c:f>Sheet1!$B$2:$B$6</c:f>
              <c:numCache>
                <c:formatCode>General</c:formatCode>
                <c:ptCount val="5"/>
                <c:pt idx="0">
                  <c:v>0.24000000000000005</c:v>
                </c:pt>
                <c:pt idx="1">
                  <c:v>0.44000000000000006</c:v>
                </c:pt>
                <c:pt idx="2">
                  <c:v>0.78</c:v>
                </c:pt>
                <c:pt idx="3">
                  <c:v>0.9199999999999999</c:v>
                </c:pt>
                <c:pt idx="4">
                  <c:v>1</c:v>
                </c:pt>
              </c:numCache>
            </c:numRef>
          </c:val>
          <c:smooth val="0"/>
        </c:ser>
        <c:dLbls>
          <c:numFmt formatCode="0%" sourceLinked="0"/>
          <c:txPr>
            <a:bodyPr/>
            <a:lstStyle/>
            <a:p>
              <a:pPr>
                <a:defRPr b="0" i="0" strike="noStrike" sz="1200" u="none">
                  <a:solidFill>
                    <a:srgbClr val="15232B"/>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86A72"/>
                    </a:solidFill>
                    <a:latin typeface="+mn-lt"/>
                  </a:defRPr>
                </a:pPr>
                <a:r>
                  <a:rPr sz="1200" b="0" i="0" u="none" strike="noStrike">
                    <a:solidFill>
                      <a:srgbClr val="586A72"/>
                    </a:solidFill>
                    <a:latin typeface="+mn-lt"/>
                  </a:rPr>
                  <a:t>people in the cohort</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6A7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3DDE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86A72"/>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2B"/>
                </a:solidFill>
                <a:latin typeface="+mn-lt"/>
              </a:defRPr>
            </a:pPr>
            <a:r>
              <a:rPr sz="1400" b="0" i="0" u="none" strike="noStrike">
                <a:solidFill>
                  <a:srgbClr val="15232B"/>
                </a:solidFill>
                <a:latin typeface="+mn-lt"/>
              </a:rPr>
              <a:t>XY-mixer QAOA on the IBM noise model, depth 1</a:t>
            </a:r>
          </a:p>
        </c:rich>
      </c:tx>
      <c:layout/>
      <c:overlay val="0"/>
    </c:title>
    <c:autoTitleDeleted val="0"/>
    <c:plotArea>
      <c:layout/>
      <c:barChart>
        <c:barDir val="col"/>
        <c:grouping val="clustered"/>
        <c:varyColors val="0"/>
        <c:ser>
          <c:idx val="0"/>
          <c:order val="0"/>
          <c:tx>
            <c:strRef>
              <c:f>Sheet1!$B$1</c:f>
              <c:strCache>
                <c:ptCount val="1"/>
                <c:pt idx="0">
                  <c:v>Approximation ratio</c:v>
                </c:pt>
              </c:strCache>
            </c:strRef>
          </c:tx>
          <c:spPr>
            <a:solidFill>
              <a:srgbClr val="D9D4F2"/>
            </a:solidFill>
            <a:effectLst/>
          </c:spPr>
          <c:invertIfNegative val="0"/>
          <c:dLbls>
            <c:numFmt formatCode="0.00" sourceLinked="0"/>
            <c:txPr>
              <a:bodyPr/>
              <a:lstStyle/>
              <a:p>
                <a:pPr>
                  <a:defRPr b="0" i="0" strike="noStrike" sz="1200" u="none">
                    <a:solidFill>
                      <a:srgbClr val="15232B"/>
                    </a:solidFill>
                    <a:latin typeface="+mn-lt"/>
                  </a:defRPr>
                </a:pPr>
              </a:p>
            </c:txPr>
            <c:showLegendKey val="0"/>
            <c:showVal val="1"/>
            <c:showCatName val="0"/>
            <c:showSerName val="0"/>
            <c:showPercent val="0"/>
            <c:showBubbleSize val="0"/>
            <c:showLeaderLines val="0"/>
          </c:dLbls>
          <c:dPt>
            <c:idx val="0"/>
            <c:invertIfNegative val="0"/>
            <c:bubble3D val="0"/>
            <c:spPr>
              <a:solidFill>
                <a:srgbClr val="D9D4F2"/>
              </a:solidFill>
              <a:effectLst/>
            </c:spPr>
          </c:dPt>
          <c:dPt>
            <c:idx val="1"/>
            <c:invertIfNegative val="0"/>
            <c:bubble3D val="0"/>
            <c:spPr>
              <a:solidFill>
                <a:srgbClr val="B1A8E4"/>
              </a:solidFill>
              <a:effectLst/>
            </c:spPr>
          </c:dPt>
          <c:dPt>
            <c:idx val="2"/>
            <c:invertIfNegative val="0"/>
            <c:bubble3D val="0"/>
            <c:spPr>
              <a:solidFill>
                <a:srgbClr val="8579CF"/>
              </a:solidFill>
              <a:effectLst/>
            </c:spPr>
          </c:dPt>
          <c:dPt>
            <c:idx val="3"/>
            <c:invertIfNegative val="0"/>
            <c:bubble3D val="0"/>
            <c:spPr>
              <a:solidFill>
                <a:srgbClr val="5A4FB0"/>
              </a:solidFill>
              <a:effectLst/>
            </c:spPr>
          </c:dPt>
          <c:dPt>
            <c:idx val="4"/>
            <c:invertIfNegative val="0"/>
            <c:bubble3D val="0"/>
            <c:spPr>
              <a:solidFill>
                <a:srgbClr val="15232B"/>
              </a:solidFill>
              <a:effectLst/>
            </c:spPr>
          </c:dPt>
          <c:cat>
            <c:multiLvlStrRef>
              <c:f>Sheet1!$A$2:$A$6</c:f>
              <c:multiLvlStrCache>
                <c:ptCount val="5"/>
                <c:lvl>
                  <c:pt idx="0">
                    <c:v>Noisy</c:v>
                  </c:pt>
                  <c:pt idx="1">
                    <c:v>+ readout</c:v>
                  </c:pt>
                  <c:pt idx="2">
                    <c:v>+ post-selection</c:v>
                  </c:pt>
                  <c:pt idx="3">
                    <c:v>+ zero-noise</c:v>
                  </c:pt>
                  <c:pt idx="4">
                    <c:v>Noise-free</c:v>
                  </c:pt>
                </c:lvl>
              </c:multiLvlStrCache>
            </c:multiLvlStrRef>
          </c:cat>
          <c:val>
            <c:numRef>
              <c:f>Sheet1!$B$2:$B$6</c:f>
              <c:numCache>
                <c:formatCode>General</c:formatCode>
                <c:ptCount val="5"/>
                <c:pt idx="0">
                  <c:v>0.31432898766006684</c:v>
                </c:pt>
                <c:pt idx="1">
                  <c:v>0.32856322536182647</c:v>
                </c:pt>
                <c:pt idx="2">
                  <c:v>0.7378442273958695</c:v>
                </c:pt>
                <c:pt idx="3">
                  <c:v>0.7497496815330438</c:v>
                </c:pt>
                <c:pt idx="4">
                  <c:v>0.7558143837685501</c:v>
                </c:pt>
              </c:numCache>
            </c:numRef>
          </c:val>
        </c:ser>
        <c:dLbls>
          <c:numFmt formatCode="0.00" sourceLinked="0"/>
          <c:txPr>
            <a:bodyPr/>
            <a:lstStyle/>
            <a:p>
              <a:pPr>
                <a:defRPr b="0" i="0" strike="noStrike" sz="1200" u="none">
                  <a:solidFill>
                    <a:srgbClr val="15232B"/>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6A7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3DDE0"/>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86A72"/>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2B"/>
                </a:solidFill>
                <a:latin typeface="+mn-lt"/>
              </a:defRPr>
            </a:pPr>
            <a:r>
              <a:rPr sz="1400" b="0" i="0" u="none" strike="noStrike">
                <a:solidFill>
                  <a:srgbClr val="15232B"/>
                </a:solidFill>
                <a:latin typeface="+mn-lt"/>
              </a:rPr>
              <a:t>AUC on the 489 real South Asian genomes, by group</a:t>
            </a:r>
          </a:p>
        </c:rich>
      </c:tx>
      <c:layout/>
      <c:overlay val="0"/>
    </c:title>
    <c:autoTitleDeleted val="0"/>
    <c:plotArea>
      <c:layout/>
      <c:barChart>
        <c:barDir val="col"/>
        <c:grouping val="clustered"/>
        <c:varyColors val="0"/>
        <c:ser>
          <c:idx val="0"/>
          <c:order val="0"/>
          <c:tx>
            <c:strRef>
              <c:f>Sheet1!$B$1</c:f>
              <c:strCache>
                <c:ptCount val="1"/>
                <c:pt idx="0">
                  <c:v>Clinical factors only</c:v>
                </c:pt>
              </c:strCache>
            </c:strRef>
          </c:tx>
          <c:spPr>
            <a:solidFill>
              <a:srgbClr val="8A979E"/>
            </a:solidFill>
            <a:effectLst/>
          </c:spPr>
          <c:invertIfNegative val="0"/>
          <c:dLbls>
            <c:numFmt formatCode="0.00" sourceLinked="0"/>
            <c:txPr>
              <a:bodyPr/>
              <a:lstStyle/>
              <a:p>
                <a:pPr>
                  <a:defRPr b="0" i="0" strike="noStrike" sz="1000" u="none">
                    <a:solidFill>
                      <a:srgbClr val="15232B"/>
                    </a:solidFill>
                    <a:latin typeface="+mn-lt"/>
                  </a:defRPr>
                </a:pPr>
              </a:p>
            </c:txPr>
            <c:showLegendKey val="0"/>
            <c:showVal val="1"/>
            <c:showCatName val="0"/>
            <c:showSerName val="0"/>
            <c:showPercent val="0"/>
            <c:showBubbleSize val="0"/>
            <c:showLeaderLines val="0"/>
          </c:dLbls>
          <c:cat>
            <c:multiLvlStrRef>
              <c:f>Sheet1!$A$2:$A$8</c:f>
              <c:multiLvlStrCache>
                <c:ptCount val="7"/>
                <c:lvl>
                  <c:pt idx="0">
                    <c:v>Gujarati</c:v>
                  </c:pt>
                  <c:pt idx="1">
                    <c:v>Punjabi</c:v>
                  </c:pt>
                  <c:pt idx="2">
                    <c:v>Bengali</c:v>
                  </c:pt>
                  <c:pt idx="3">
                    <c:v>Sri Lankan Tamil</c:v>
                  </c:pt>
                  <c:pt idx="4">
                    <c:v>Telugu</c:v>
                  </c:pt>
                  <c:pt idx="5">
                    <c:v>Men</c:v>
                  </c:pt>
                  <c:pt idx="6">
                    <c:v>Women</c:v>
                  </c:pt>
                </c:lvl>
              </c:multiLvlStrCache>
            </c:multiLvlStrRef>
          </c:cat>
          <c:val>
            <c:numRef>
              <c:f>Sheet1!$B$2:$B$8</c:f>
              <c:numCache>
                <c:formatCode>General</c:formatCode>
                <c:ptCount val="7"/>
                <c:pt idx="0">
                  <c:v>0.8171482145647467</c:v>
                </c:pt>
                <c:pt idx="1">
                  <c:v>0.7934856674555014</c:v>
                </c:pt>
                <c:pt idx="2">
                  <c:v>0.8009764216366159</c:v>
                </c:pt>
                <c:pt idx="3">
                  <c:v>0.8714103843535194</c:v>
                </c:pt>
                <c:pt idx="4">
                  <c:v>0.8371321525095405</c:v>
                </c:pt>
                <c:pt idx="5">
                  <c:v>0.8224586676442904</c:v>
                </c:pt>
                <c:pt idx="6">
                  <c:v>0.8277950139843646</c:v>
                </c:pt>
              </c:numCache>
            </c:numRef>
          </c:val>
        </c:ser>
        <c:ser>
          <c:idx val="1"/>
          <c:order val="1"/>
          <c:tx>
            <c:strRef>
              <c:f>Sheet1!$C$1</c:f>
              <c:strCache>
                <c:ptCount val="1"/>
                <c:pt idx="0">
                  <c:v>Clinical + genetics</c:v>
                </c:pt>
              </c:strCache>
            </c:strRef>
          </c:tx>
          <c:spPr>
            <a:solidFill>
              <a:srgbClr val="0A756F"/>
            </a:solidFill>
            <a:effectLst/>
          </c:spPr>
          <c:invertIfNegative val="0"/>
          <c:dLbls>
            <c:numFmt formatCode="0.00" sourceLinked="0"/>
            <c:txPr>
              <a:bodyPr/>
              <a:lstStyle/>
              <a:p>
                <a:pPr>
                  <a:defRPr b="0" i="0" strike="noStrike" sz="1000" u="none">
                    <a:solidFill>
                      <a:srgbClr val="15232B"/>
                    </a:solidFill>
                    <a:latin typeface="+mn-lt"/>
                  </a:defRPr>
                </a:pPr>
              </a:p>
            </c:txPr>
            <c:showLegendKey val="0"/>
            <c:showVal val="1"/>
            <c:showCatName val="0"/>
            <c:showSerName val="0"/>
            <c:showPercent val="0"/>
            <c:showBubbleSize val="0"/>
            <c:showLeaderLines val="0"/>
          </c:dLbls>
          <c:cat>
            <c:multiLvlStrRef>
              <c:f>Sheet1!$A$2:$A$8</c:f>
              <c:multiLvlStrCache>
                <c:ptCount val="7"/>
                <c:lvl>
                  <c:pt idx="0">
                    <c:v>Gujarati</c:v>
                  </c:pt>
                  <c:pt idx="1">
                    <c:v>Punjabi</c:v>
                  </c:pt>
                  <c:pt idx="2">
                    <c:v>Bengali</c:v>
                  </c:pt>
                  <c:pt idx="3">
                    <c:v>Sri Lankan Tamil</c:v>
                  </c:pt>
                  <c:pt idx="4">
                    <c:v>Telugu</c:v>
                  </c:pt>
                  <c:pt idx="5">
                    <c:v>Men</c:v>
                  </c:pt>
                  <c:pt idx="6">
                    <c:v>Women</c:v>
                  </c:pt>
                </c:lvl>
              </c:multiLvlStrCache>
            </c:multiLvlStrRef>
          </c:cat>
          <c:val>
            <c:numRef>
              <c:f>Sheet1!$C$2:$C$8</c:f>
              <c:numCache>
                <c:formatCode>General</c:formatCode>
                <c:ptCount val="7"/>
                <c:pt idx="0">
                  <c:v>0.8840738232894073</c:v>
                </c:pt>
                <c:pt idx="1">
                  <c:v>0.8429106161198537</c:v>
                </c:pt>
                <c:pt idx="2">
                  <c:v>0.8726546463245493</c:v>
                </c:pt>
                <c:pt idx="3">
                  <c:v>0.9238451207341982</c:v>
                </c:pt>
                <c:pt idx="4">
                  <c:v>0.9207206736959321</c:v>
                </c:pt>
                <c:pt idx="5">
                  <c:v>0.8942109742251594</c:v>
                </c:pt>
                <c:pt idx="6">
                  <c:v>0.8882961519389478</c:v>
                </c:pt>
              </c:numCache>
            </c:numRef>
          </c:val>
        </c:ser>
        <c:dLbls>
          <c:numFmt formatCode="0.00" sourceLinked="0"/>
          <c:txPr>
            <a:bodyPr/>
            <a:lstStyle/>
            <a:p>
              <a:pPr>
                <a:defRPr b="0" i="0" strike="noStrike" sz="1000" u="none">
                  <a:solidFill>
                    <a:srgbClr val="15232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6A72"/>
                </a:solidFill>
                <a:latin typeface="+mn-lt"/>
              </a:defRPr>
            </a:pPr>
            <a:endParaRPr lang="en-US"/>
          </a:p>
        </c:txPr>
        <c:crossAx val="2094734552"/>
        <c:crosses val="autoZero"/>
        <c:auto val="1"/>
        <c:lblAlgn val="ctr"/>
        <c:noMultiLvlLbl val="1"/>
      </c:catAx>
      <c:valAx>
        <c:axId val="2094734552"/>
        <c:scaling>
          <c:orientation val="minMax"/>
          <c:max val="0.95"/>
          <c:min val="0.7"/>
        </c:scaling>
        <c:delete val="0"/>
        <c:axPos val="l"/>
        <c:majorGridlines>
          <c:spPr>
            <a:ln w="6350" cap="flat">
              <a:solidFill>
                <a:srgbClr val="D3DDE0"/>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86A72"/>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200">
              <a:solidFill>
                <a:srgbClr val="15232B"/>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5232B"/>
                </a:solidFill>
                <a:latin typeface="+mn-lt"/>
              </a:defRPr>
            </a:pPr>
            <a:r>
              <a:rPr sz="1400" b="0" i="0" u="none" strike="noStrike">
                <a:solidFill>
                  <a:srgbClr val="15232B"/>
                </a:solidFill>
                <a:latin typeface="+mn-lt"/>
              </a:rPr>
              <a:t>Error in the reported risk percentile (points)</a:t>
            </a:r>
          </a:p>
        </c:rich>
      </c:tx>
      <c:layout/>
      <c:overlay val="0"/>
    </c:title>
    <c:autoTitleDeleted val="0"/>
    <c:plotArea>
      <c:layout/>
      <c:lineChart>
        <c:varyColors val="0"/>
        <c:ser>
          <c:idx val="0"/>
          <c:order val="0"/>
          <c:tx>
            <c:strRef>
              <c:f>Sheet1!$B$1</c:f>
              <c:strCache>
                <c:ptCount val="1"/>
                <c:pt idx="0">
                  <c:v>Fill with the population average</c:v>
                </c:pt>
              </c:strCache>
            </c:strRef>
          </c:tx>
          <c:spPr>
            <a:solidFill>
              <a:srgbClr val="8A979E"/>
            </a:solidFill>
            <a:ln w="38100" cap="flat">
              <a:solidFill>
                <a:srgbClr val="8A979E"/>
              </a:solidFill>
              <a:prstDash val="solid"/>
              <a:round/>
            </a:ln>
            <a:effectLst/>
          </c:spPr>
          <c:invertIfNegative val="0"/>
          <c:dLbls>
            <c:numFmt formatCode="0.0" sourceLinked="0"/>
            <c:txPr>
              <a:bodyPr/>
              <a:lstStyle/>
              <a:p>
                <a:pPr>
                  <a:defRPr b="0" i="0" strike="noStrike" sz="1200" u="none">
                    <a:solidFill>
                      <a:srgbClr val="15232B"/>
                    </a:solidFill>
                    <a:latin typeface="+mn-lt"/>
                  </a:defRPr>
                </a:pPr>
              </a:p>
            </c:txPr>
            <c:dLblPos val="t"/>
            <c:showLegendKey val="0"/>
            <c:showVal val="1"/>
            <c:showCatName val="0"/>
            <c:showSerName val="0"/>
            <c:showPercent val="0"/>
            <c:showBubbleSize val="0"/>
            <c:showLeaderLines val="0"/>
          </c:dLbls>
          <c:marker>
            <c:symbol val="circle"/>
            <c:size val="9"/>
            <c:spPr>
              <a:solidFill>
                <a:srgbClr val="8A979E"/>
              </a:solidFill>
              <a:ln w="9525" cap="flat">
                <a:solidFill>
                  <a:srgbClr val="8A979E"/>
                </a:solidFill>
                <a:prstDash val="solid"/>
                <a:round/>
              </a:ln>
              <a:effectLst/>
            </c:spPr>
          </c:marker>
          <c:cat>
            <c:multiLvlStrRef>
              <c:f>Sheet1!$A$2:$A$4</c:f>
              <c:multiLvlStrCache>
                <c:ptCount val="3"/>
                <c:lvl>
                  <c:pt idx="0">
                    <c:v>25%</c:v>
                  </c:pt>
                  <c:pt idx="1">
                    <c:v>45%</c:v>
                  </c:pt>
                  <c:pt idx="2">
                    <c:v>65%</c:v>
                  </c:pt>
                </c:lvl>
              </c:multiLvlStrCache>
            </c:multiLvlStrRef>
          </c:cat>
          <c:val>
            <c:numRef>
              <c:f>Sheet1!$B$2:$B$4</c:f>
              <c:numCache>
                <c:formatCode>General</c:formatCode>
                <c:ptCount val="3"/>
                <c:pt idx="0">
                  <c:v>16.0757</c:v>
                </c:pt>
                <c:pt idx="1">
                  <c:v>13.201583333333332</c:v>
                </c:pt>
                <c:pt idx="2">
                  <c:v>9.0693</c:v>
                </c:pt>
              </c:numCache>
            </c:numRef>
          </c:val>
          <c:smooth val="0"/>
        </c:ser>
        <c:ser>
          <c:idx val="1"/>
          <c:order val="1"/>
          <c:tx>
            <c:strRef>
              <c:f>Sheet1!$C$1</c:f>
              <c:strCache>
                <c:ptCount val="1"/>
                <c:pt idx="0">
                  <c:v>LD imputation</c:v>
                </c:pt>
              </c:strCache>
            </c:strRef>
          </c:tx>
          <c:spPr>
            <a:solidFill>
              <a:srgbClr val="0A756F"/>
            </a:solidFill>
            <a:ln w="38100" cap="flat">
              <a:solidFill>
                <a:srgbClr val="0A756F"/>
              </a:solidFill>
              <a:prstDash val="solid"/>
              <a:round/>
            </a:ln>
            <a:effectLst/>
          </c:spPr>
          <c:invertIfNegative val="0"/>
          <c:dLbls>
            <c:numFmt formatCode="0.0" sourceLinked="0"/>
            <c:txPr>
              <a:bodyPr/>
              <a:lstStyle/>
              <a:p>
                <a:pPr>
                  <a:defRPr b="0" i="0" strike="noStrike" sz="1200" u="none">
                    <a:solidFill>
                      <a:srgbClr val="15232B"/>
                    </a:solidFill>
                    <a:latin typeface="+mn-lt"/>
                  </a:defRPr>
                </a:pPr>
              </a:p>
            </c:txPr>
            <c:dLblPos val="t"/>
            <c:showLegendKey val="0"/>
            <c:showVal val="1"/>
            <c:showCatName val="0"/>
            <c:showSerName val="0"/>
            <c:showPercent val="0"/>
            <c:showBubbleSize val="0"/>
            <c:showLeaderLines val="0"/>
          </c:dLbls>
          <c:marker>
            <c:symbol val="circle"/>
            <c:size val="9"/>
            <c:spPr>
              <a:solidFill>
                <a:srgbClr val="0A756F"/>
              </a:solidFill>
              <a:ln w="9525" cap="flat">
                <a:solidFill>
                  <a:srgbClr val="0A756F"/>
                </a:solidFill>
                <a:prstDash val="solid"/>
                <a:round/>
              </a:ln>
              <a:effectLst/>
            </c:spPr>
          </c:marker>
          <c:cat>
            <c:multiLvlStrRef>
              <c:f>Sheet1!$A$2:$A$4</c:f>
              <c:multiLvlStrCache>
                <c:ptCount val="3"/>
                <c:lvl>
                  <c:pt idx="0">
                    <c:v>25%</c:v>
                  </c:pt>
                  <c:pt idx="1">
                    <c:v>45%</c:v>
                  </c:pt>
                  <c:pt idx="2">
                    <c:v>65%</c:v>
                  </c:pt>
                </c:lvl>
              </c:multiLvlStrCache>
            </c:multiLvlStrRef>
          </c:cat>
          <c:val>
            <c:numRef>
              <c:f>Sheet1!$C$2:$C$4</c:f>
              <c:numCache>
                <c:formatCode>General</c:formatCode>
                <c:ptCount val="3"/>
                <c:pt idx="0">
                  <c:v>8.74145</c:v>
                </c:pt>
                <c:pt idx="1">
                  <c:v>6.2883</c:v>
                </c:pt>
                <c:pt idx="2">
                  <c:v>3.992516666666667</c:v>
                </c:pt>
              </c:numCache>
            </c:numRef>
          </c:val>
          <c:smooth val="0"/>
        </c:ser>
        <c:dLbls>
          <c:numFmt formatCode="0.0" sourceLinked="0"/>
          <c:txPr>
            <a:bodyPr/>
            <a:lstStyle/>
            <a:p>
              <a:pPr>
                <a:defRPr b="0" i="0" strike="noStrike" sz="1200" u="none">
                  <a:solidFill>
                    <a:srgbClr val="15232B"/>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86A72"/>
                    </a:solidFill>
                    <a:latin typeface="+mn-lt"/>
                  </a:defRPr>
                </a:pPr>
                <a:r>
                  <a:rPr sz="1200" b="0" i="0" u="none" strike="noStrike">
                    <a:solidFill>
                      <a:srgbClr val="586A72"/>
                    </a:solidFill>
                    <a:latin typeface="+mn-lt"/>
                  </a:rPr>
                  <a:t>share of risk-score variants in the file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86A72"/>
                </a:solidFill>
                <a:latin typeface="+mn-lt"/>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6350" cap="flat">
              <a:solidFill>
                <a:srgbClr val="D3DDE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86A72"/>
                </a:solidFill>
                <a:latin typeface="+mn-lt"/>
              </a:defRPr>
            </a:pPr>
            <a:endParaRPr lang="en-US"/>
          </a:p>
        </c:txPr>
        <c:crossAx val="2094734554"/>
        <c:crosses val="autoZero"/>
        <c:crossBetween val="between"/>
        <c:majorUnit val="5"/>
      </c:valAx>
      <c:spPr>
        <a:noFill/>
        <a:ln>
          <a:noFill/>
        </a:ln>
        <a:effectLst/>
      </c:spPr>
    </c:plotArea>
    <c:legend>
      <c:legendPos val="b"/>
      <c:overlay val="0"/>
      <c:txPr>
        <a:bodyPr/>
        <a:lstStyle/>
        <a:p>
          <a:pPr>
            <a:defRPr sz="1200">
              <a:solidFill>
                <a:srgbClr val="15232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our guide. One sentence on the project: QGenomix asks how much genetics adds to India's diabetes screening for lean South Asians, and tests honestly whether quantum computing helps find interacting genes. The talk covers the problem, our approach, the results and the working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has about 101 million adults with diabetes. South Asians get it younger and thinner, so the two screening tools in use both have a blind spot: a BMI rule never flags a lean person, and the IDRS questionnaire has no way to see genetic risk in someone young and slim. That lean, high-risk group is our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drive everything. The first is clinical: what does genetics add to the IDRS, and does it help the lean people current screening misses? The second is scientific and technical: do two diabetes mechanisms interact, and does quantum optimisation help find the interacting pairs? Because quantum claims are easy to overstate, every quantum step has a matched classical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Genotypes are real: all 2,504 people in 1000 Genomes, including 489 South Asians. Risk weights are published: the D-PRISM score trained for South Asians and five mechanism scores. To score discovery exactly we simulate outcomes on 10,000 synthetic South Asians assembled from real haplotypes, with ten planted gene pairs that we know are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data preparation, cohort and simulator, interaction search, pair selection (QUBO with annealing and QAOA), the quantum encoder, the model zoo of 17 predictors, fifteen experiments, and the risk-report application. The purple stages are quantum; each has a classical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Quantum computing appears in two places. Choosing a non-redundant set of gene pairs is a QUBO, which we solve classically and with QAOA; our QAOA uses an XY mixer that only explores valid selections. The selected pairs are then encoded by an 8-qubit variational circuit whose entanglement lets a feature depend on both SNPs of a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IDRS alone reaches 0.761; clinical factors 0.812. Adding the PRS and mechanism scores lifts this to 0.874, significant in every seed. The stacked hybrid is best at 0.877 but not significantly better than the additive model, and the quantum variants do not beat their classical counterparts.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clinical result. Among lean people who develop diabetes, the BMI rule flags none, the IDRS 30%, a clinical model 35%. Adding genetics raises this to 58%. Genetics helps most for exactly the people current screening misses.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10,000 people the score test puts 70 to 84 percent of the planted pairs in its top ten, against 40 to 48 percent for PLINK's BOOST, and the curve shows how discovery grows with cohort size. With no true interaction it stays quiet: 18 of 20 null runs report nothing. QUBO selection covers more distinct SNPs and wastes fewer slots on redundant shadow pairs than plain top-K.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report the quantum results as they are. The encoder performs the same with and without entanglement. QAOA with our XY mixer clearly beats the textbook form on an ideal simulator, but realistic IBM noise destroys both. Error mitigation recovers most of it: readout correction, post-selection on the conserved pair count, and zero-noise extrapolation take the XY circuit from 0.31 to 0.75, close to the noise-free 0.76. The penalty form reaches only 0.69, the level of a random valid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checks of trust. Fairness: on the real South Asian genomes, genetics improves on clinical factors in every population and in men and women. Robustness: because outcomes are simulated, we changed one assumption at a time in 13 settings; genetics wins in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Consumer chips measure about half the variants of the risk score. Filling the gaps with the average pulls everyone to the middle and hides high-risk people. Our LD imputation predicts each missing variant from its best-correlated measured neighbour; at typical coverage it halves the error and keeps most high-risk people flagged.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application. A user uploads a 23andMe or AncestryDNA file and answers six questions. The app imputes missing variants, shows the risk with its percentile and the IDRS, flags people the BMI rule or the IDRS would miss, explains which mechanisms and gene pairs drive the risk, and lets them try lifestyle changes. The same report downloads as a PDF, and everything runs from one Docker image. Live demo: make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can be checked. Tests cover the maths, the equivalence of our simulators with PennyLane and Qiskit, the pipeline end to end, and the app. One configuration file drives every result, re-runs match bit for bit, and the whole application runs with one Docker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directions. A run on a real IBM quantum computer, which is scripted and rehearsed. A public demo from the Docker image. Most important scientifically, validation on real Indian patients, because our outcomes are simulated. And a larger imputation panel with models for more ancestries.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takeaways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QGX Title">
    <p:bg>
      <p:bgPr>
        <a:solidFill>
          <a:srgbClr val="0D3D4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777240"/>
            <a:ext cx="7680960" cy="1143000"/>
          </a:xfrm>
          <a:prstGeom prst="rect">
            <a:avLst/>
          </a:prstGeom>
          <a:noFill/>
          <a:ln/>
        </p:spPr>
        <p:txBody>
          <a:bodyPr wrap="square" rtlCol="0"/>
          <a:lstStyle>
            <a:lvl1pPr algn="l" indent="0" marL="0">
              <a:buNone/>
              <a:defRPr lang="en-US" sz="6400" b="1" dirty="0">
                <a:solidFill>
                  <a:schemeClr val="bg1"/>
                </a:solidFill>
              </a:defRPr>
            </a:lvl1pPr>
          </a:lstStyle>
          <a:p>
            <a:pPr algn="l" indent="0" marL="0">
              <a:buNone/>
            </a:pPr>
            <a:endParaRPr lang="en-US" sz="6400" dirty="0"/>
          </a:p>
        </p:txBody>
      </p:sp>
      <p:sp>
        <p:nvSpPr>
          <p:cNvPr id="3" name="Text 0"/>
          <p:cNvSpPr/>
          <p:nvPr>
            <p:ph idx="101" type="body" hasCustomPrompt="1"/>
          </p:nvPr>
        </p:nvSpPr>
        <p:spPr>
          <a:xfrm>
            <a:off x="731520" y="2057400"/>
            <a:ext cx="7315200" cy="91440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QGX 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QGenomix  ·  Thapar Institute of Engineering and Technology, Patiala</a:t>
            </a:r>
            <a:endParaRPr lang="en-US" sz="10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GX Closing">
    <p:bg>
      <p:bgPr>
        <a:solidFill>
          <a:srgbClr val="0D3D4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731520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1920240"/>
            <a:ext cx="6949440" cy="548640"/>
          </a:xfrm>
          <a:prstGeom prst="rect">
            <a:avLst/>
          </a:prstGeom>
          <a:noFill/>
          <a:ln/>
        </p:spPr>
        <p:txBody>
          <a:bodyPr wrap="square" rtlCol="0"/>
          <a:lstStyle>
            <a:lvl1pPr indent="0" marL="0">
              <a:buNone/>
              <a:defRPr lang="en-US" sz="2200" dirty="0">
                <a:solidFill>
                  <a:schemeClr val="bg2"/>
                </a:solidFill>
              </a:defRPr>
            </a:lvl1pPr>
          </a:lstStyle>
          <a:p>
            <a:pPr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3.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777240"/>
            <a:ext cx="7680960" cy="1143000"/>
          </a:xfrm>
          <a:prstGeom prst="rect">
            <a:avLst/>
          </a:prstGeom>
          <a:noFill/>
          <a:ln/>
        </p:spPr>
        <p:txBody>
          <a:bodyPr wrap="square" lIns="0" tIns="0" rIns="0" bIns="0" rtlCol="0" anchor="b"/>
          <a:lstStyle/>
          <a:p>
            <a:pPr algn="l" indent="0" marL="0">
              <a:buNone/>
            </a:pPr>
            <a:r>
              <a:rPr lang="en-US" sz="6400" b="1" dirty="0">
                <a:solidFill>
                  <a:schemeClr val="bg1"/>
                </a:solidFill>
              </a:rPr>
              <a:t>QGenomix</a:t>
            </a:r>
            <a:endParaRPr lang="en-US" sz="6400" dirty="0"/>
          </a:p>
        </p:txBody>
      </p:sp>
      <p:sp>
        <p:nvSpPr>
          <p:cNvPr id="3" name="Text 0"/>
          <p:cNvSpPr/>
          <p:nvPr>
            <p:ph idx="101" type="body" hasCustomPrompt="1"/>
          </p:nvPr>
        </p:nvSpPr>
        <p:spPr>
          <a:xfrm>
            <a:off x="731520" y="2057400"/>
            <a:ext cx="7315200" cy="914400"/>
          </a:xfrm>
          <a:prstGeom prst="rect">
            <a:avLst/>
          </a:prstGeom>
          <a:noFill/>
          <a:ln/>
        </p:spPr>
        <p:txBody>
          <a:bodyPr wrap="square" lIns="0" tIns="0" rIns="0" bIns="0" rtlCol="0" anchor="t"/>
          <a:lstStyle/>
          <a:p>
            <a:pPr indent="0" marL="0">
              <a:buNone/>
            </a:pPr>
            <a:r>
              <a:rPr lang="en-US" sz="2200" dirty="0">
                <a:solidFill>
                  <a:schemeClr val="bg2"/>
                </a:solidFill>
              </a:rPr>
              <a:t>Quantum-assisted genetic screening for early-onset type 2 diabetes in lean South Asians</a:t>
            </a:r>
            <a:endParaRPr lang="en-US" sz="2200" dirty="0"/>
          </a:p>
        </p:txBody>
      </p:sp>
      <p:sp>
        <p:nvSpPr>
          <p:cNvPr id="4" name="DNA circle"/>
          <p:cNvSpPr/>
          <p:nvPr/>
        </p:nvSpPr>
        <p:spPr>
          <a:xfrm>
            <a:off x="9098280" y="502920"/>
            <a:ext cx="2514600" cy="2514600"/>
          </a:xfrm>
          <a:prstGeom prst="ellipse">
            <a:avLst/>
          </a:prstGeom>
          <a:solidFill>
            <a:schemeClr val="accent1"/>
          </a:solidFill>
          <a:ln w="12700">
            <a:solidFill>
              <a:schemeClr val="accent1"/>
            </a:solidFill>
            <a:prstDash val="solid"/>
          </a:ln>
        </p:spPr>
      </p:sp>
      <p:pic>
        <p:nvPicPr>
          <p:cNvPr id="5" name="DNA icon" descr="DNA icon">    </p:cNvPr>
          <p:cNvPicPr>
            <a:picLocks noChangeAspect="1"/>
          </p:cNvPicPr>
          <p:nvPr/>
        </p:nvPicPr>
        <p:blipFill>
          <a:blip r:embed="rId1"/>
          <a:stretch>
            <a:fillRect/>
          </a:stretch>
        </p:blipFill>
        <p:spPr>
          <a:xfrm>
            <a:off x="9701784" y="1106424"/>
            <a:ext cx="1307592" cy="1307592"/>
          </a:xfrm>
          <a:prstGeom prst="rect">
            <a:avLst/>
          </a:prstGeom>
        </p:spPr>
      </p:pic>
      <p:sp>
        <p:nvSpPr>
          <p:cNvPr id="6" name="Quantum circle"/>
          <p:cNvSpPr/>
          <p:nvPr/>
        </p:nvSpPr>
        <p:spPr>
          <a:xfrm>
            <a:off x="10927080" y="2240280"/>
            <a:ext cx="1097280" cy="1097280"/>
          </a:xfrm>
          <a:prstGeom prst="ellipse">
            <a:avLst/>
          </a:prstGeom>
          <a:solidFill>
            <a:schemeClr val="accent2"/>
          </a:solidFill>
          <a:ln w="12700">
            <a:solidFill>
              <a:schemeClr val="accent2"/>
            </a:solidFill>
            <a:prstDash val="solid"/>
          </a:ln>
        </p:spPr>
      </p:sp>
      <p:pic>
        <p:nvPicPr>
          <p:cNvPr id="7" name="Quantum icon" descr="Quantum icon">    </p:cNvPr>
          <p:cNvPicPr>
            <a:picLocks noChangeAspect="1"/>
          </p:cNvPicPr>
          <p:nvPr/>
        </p:nvPicPr>
        <p:blipFill>
          <a:blip r:embed="rId2"/>
          <a:stretch>
            <a:fillRect/>
          </a:stretch>
        </p:blipFill>
        <p:spPr>
          <a:xfrm>
            <a:off x="11190427" y="2503627"/>
            <a:ext cx="570586" cy="570586"/>
          </a:xfrm>
          <a:prstGeom prst="rect">
            <a:avLst/>
          </a:prstGeom>
        </p:spPr>
      </p:pic>
      <p:sp>
        <p:nvSpPr>
          <p:cNvPr id="8" name="People panel"/>
          <p:cNvSpPr/>
          <p:nvPr/>
        </p:nvSpPr>
        <p:spPr>
          <a:xfrm>
            <a:off x="548640" y="3703320"/>
            <a:ext cx="11094415" cy="2606040"/>
          </a:xfrm>
          <a:prstGeom prst="roundRect">
            <a:avLst>
              <a:gd name="adj" fmla="val 5263"/>
            </a:avLst>
          </a:prstGeom>
          <a:solidFill>
            <a:schemeClr val="bg1">
              <a:alpha val="9000"/>
            </a:schemeClr>
          </a:solidFill>
          <a:ln w="12700">
            <a:solidFill>
              <a:schemeClr val="bg1">
                <a:alpha val="0"/>
              </a:schemeClr>
            </a:solidFill>
            <a:prstDash val="solid"/>
          </a:ln>
        </p:spPr>
      </p:sp>
      <p:sp>
        <p:nvSpPr>
          <p:cNvPr id="9" name="Text 5"/>
          <p:cNvSpPr txBox="1"/>
          <p:nvPr/>
        </p:nvSpPr>
        <p:spPr>
          <a:xfrm>
            <a:off x="914400" y="3977640"/>
            <a:ext cx="3657600" cy="274320"/>
          </a:xfrm>
          <a:prstGeom prst="rect">
            <a:avLst/>
          </a:prstGeom>
          <a:noFill/>
          <a:ln/>
        </p:spPr>
        <p:txBody>
          <a:bodyPr wrap="square" lIns="0" tIns="0" rIns="0" bIns="0" rtlCol="0" anchor="t"/>
          <a:lstStyle/>
          <a:p>
            <a:pPr indent="0" marL="0">
              <a:buNone/>
            </a:pPr>
            <a:r>
              <a:rPr lang="en-US" sz="1200" b="1" spc="200" kern="0" dirty="0">
                <a:solidFill>
                  <a:schemeClr val="bg2"/>
                </a:solidFill>
              </a:rPr>
              <a:t>PRESENTED BY</a:t>
            </a:r>
            <a:endParaRPr lang="en-US" sz="1200" dirty="0"/>
          </a:p>
        </p:txBody>
      </p:sp>
      <p:sp>
        <p:nvSpPr>
          <p:cNvPr id="10" name="Member 1"/>
          <p:cNvSpPr txBox="1"/>
          <p:nvPr/>
        </p:nvSpPr>
        <p:spPr>
          <a:xfrm>
            <a:off x="914400" y="4434840"/>
            <a:ext cx="2240280" cy="731520"/>
          </a:xfrm>
          <a:prstGeom prst="rect">
            <a:avLst/>
          </a:prstGeom>
          <a:noFill/>
          <a:ln/>
        </p:spPr>
        <p:txBody>
          <a:bodyPr wrap="square" lIns="0" tIns="0" rIns="0" bIns="0" rtlCol="0" anchor="t"/>
          <a:lstStyle/>
          <a:p>
            <a:pPr indent="0" marL="0">
              <a:buNone/>
            </a:pPr>
            <a:r>
              <a:rPr lang="en-US" sz="1700" b="1" dirty="0">
                <a:solidFill>
                  <a:schemeClr val="bg1"/>
                </a:solidFill>
              </a:rPr>
              <a:t>Aritro Chowdhury</a:t>
            </a:r>
            <a:endParaRPr lang="en-US" sz="1500" dirty="0"/>
          </a:p>
          <a:p>
            <a:pPr indent="0" marL="0">
              <a:buNone/>
            </a:pPr>
            <a:r>
              <a:rPr lang="en-US" sz="1200" dirty="0">
                <a:solidFill>
                  <a:schemeClr val="bg2"/>
                </a:solidFill>
              </a:rPr>
              <a:t>102303452</a:t>
            </a:r>
            <a:endParaRPr lang="en-US" sz="1500" dirty="0"/>
          </a:p>
        </p:txBody>
      </p:sp>
      <p:sp>
        <p:nvSpPr>
          <p:cNvPr id="11" name="Member 2"/>
          <p:cNvSpPr txBox="1"/>
          <p:nvPr/>
        </p:nvSpPr>
        <p:spPr>
          <a:xfrm>
            <a:off x="3246120" y="4434840"/>
            <a:ext cx="2240280" cy="731520"/>
          </a:xfrm>
          <a:prstGeom prst="rect">
            <a:avLst/>
          </a:prstGeom>
          <a:noFill/>
          <a:ln/>
        </p:spPr>
        <p:txBody>
          <a:bodyPr wrap="square" lIns="0" tIns="0" rIns="0" bIns="0" rtlCol="0" anchor="t"/>
          <a:lstStyle/>
          <a:p>
            <a:pPr indent="0" marL="0">
              <a:buNone/>
            </a:pPr>
            <a:r>
              <a:rPr lang="en-US" sz="1700" b="1" dirty="0">
                <a:solidFill>
                  <a:schemeClr val="bg1"/>
                </a:solidFill>
              </a:rPr>
              <a:t>Suyash Gupta</a:t>
            </a:r>
            <a:endParaRPr lang="en-US" sz="1500" dirty="0"/>
          </a:p>
          <a:p>
            <a:pPr indent="0" marL="0">
              <a:buNone/>
            </a:pPr>
            <a:r>
              <a:rPr lang="en-US" sz="1200" dirty="0">
                <a:solidFill>
                  <a:schemeClr val="bg2"/>
                </a:solidFill>
              </a:rPr>
              <a:t>102303017</a:t>
            </a:r>
            <a:endParaRPr lang="en-US" sz="1500" dirty="0"/>
          </a:p>
        </p:txBody>
      </p:sp>
      <p:sp>
        <p:nvSpPr>
          <p:cNvPr id="12" name="Member 3"/>
          <p:cNvSpPr txBox="1"/>
          <p:nvPr/>
        </p:nvSpPr>
        <p:spPr>
          <a:xfrm>
            <a:off x="5577840" y="4434840"/>
            <a:ext cx="2240280" cy="731520"/>
          </a:xfrm>
          <a:prstGeom prst="rect">
            <a:avLst/>
          </a:prstGeom>
          <a:noFill/>
          <a:ln/>
        </p:spPr>
        <p:txBody>
          <a:bodyPr wrap="square" lIns="0" tIns="0" rIns="0" bIns="0" rtlCol="0" anchor="t"/>
          <a:lstStyle/>
          <a:p>
            <a:pPr indent="0" marL="0">
              <a:buNone/>
            </a:pPr>
            <a:r>
              <a:rPr lang="en-US" sz="1700" b="1" dirty="0">
                <a:solidFill>
                  <a:schemeClr val="bg1"/>
                </a:solidFill>
              </a:rPr>
              <a:t>Rishabh Sharma</a:t>
            </a:r>
            <a:endParaRPr lang="en-US" sz="1500" dirty="0"/>
          </a:p>
          <a:p>
            <a:pPr indent="0" marL="0">
              <a:buNone/>
            </a:pPr>
            <a:r>
              <a:rPr lang="en-US" sz="1200" dirty="0">
                <a:solidFill>
                  <a:schemeClr val="bg2"/>
                </a:solidFill>
              </a:rPr>
              <a:t>102303286</a:t>
            </a:r>
            <a:endParaRPr lang="en-US" sz="1500" dirty="0"/>
          </a:p>
        </p:txBody>
      </p:sp>
      <p:sp>
        <p:nvSpPr>
          <p:cNvPr id="13" name="Member 4"/>
          <p:cNvSpPr txBox="1"/>
          <p:nvPr/>
        </p:nvSpPr>
        <p:spPr>
          <a:xfrm>
            <a:off x="914400" y="5349240"/>
            <a:ext cx="2240280" cy="731520"/>
          </a:xfrm>
          <a:prstGeom prst="rect">
            <a:avLst/>
          </a:prstGeom>
          <a:noFill/>
          <a:ln/>
        </p:spPr>
        <p:txBody>
          <a:bodyPr wrap="square" lIns="0" tIns="0" rIns="0" bIns="0" rtlCol="0" anchor="t"/>
          <a:lstStyle/>
          <a:p>
            <a:pPr indent="0" marL="0">
              <a:buNone/>
            </a:pPr>
            <a:r>
              <a:rPr lang="en-US" sz="1700" b="1" dirty="0">
                <a:solidFill>
                  <a:schemeClr val="bg1"/>
                </a:solidFill>
              </a:rPr>
              <a:t>Akshat Ahuja</a:t>
            </a:r>
            <a:endParaRPr lang="en-US" sz="1500" dirty="0"/>
          </a:p>
          <a:p>
            <a:pPr indent="0" marL="0">
              <a:buNone/>
            </a:pPr>
            <a:r>
              <a:rPr lang="en-US" sz="1200" dirty="0">
                <a:solidFill>
                  <a:schemeClr val="bg2"/>
                </a:solidFill>
              </a:rPr>
              <a:t>102315073</a:t>
            </a:r>
            <a:endParaRPr lang="en-US" sz="1500" dirty="0"/>
          </a:p>
        </p:txBody>
      </p:sp>
      <p:sp>
        <p:nvSpPr>
          <p:cNvPr id="14" name="Member 5"/>
          <p:cNvSpPr txBox="1"/>
          <p:nvPr/>
        </p:nvSpPr>
        <p:spPr>
          <a:xfrm>
            <a:off x="3246120" y="5349240"/>
            <a:ext cx="2240280" cy="731520"/>
          </a:xfrm>
          <a:prstGeom prst="rect">
            <a:avLst/>
          </a:prstGeom>
          <a:noFill/>
          <a:ln/>
        </p:spPr>
        <p:txBody>
          <a:bodyPr wrap="square" lIns="0" tIns="0" rIns="0" bIns="0" rtlCol="0" anchor="t"/>
          <a:lstStyle/>
          <a:p>
            <a:pPr indent="0" marL="0">
              <a:buNone/>
            </a:pPr>
            <a:r>
              <a:rPr lang="en-US" sz="1700" b="1" dirty="0">
                <a:solidFill>
                  <a:schemeClr val="bg1"/>
                </a:solidFill>
              </a:rPr>
              <a:t>Anshh Pasriccha</a:t>
            </a:r>
            <a:endParaRPr lang="en-US" sz="1500" dirty="0"/>
          </a:p>
          <a:p>
            <a:pPr indent="0" marL="0">
              <a:buNone/>
            </a:pPr>
            <a:r>
              <a:rPr lang="en-US" sz="1200" dirty="0">
                <a:solidFill>
                  <a:schemeClr val="bg2"/>
                </a:solidFill>
              </a:rPr>
              <a:t>102303455</a:t>
            </a:r>
            <a:endParaRPr lang="en-US" sz="1500" dirty="0"/>
          </a:p>
        </p:txBody>
      </p:sp>
      <p:sp>
        <p:nvSpPr>
          <p:cNvPr id="15" name="Panel divider"/>
          <p:cNvSpPr/>
          <p:nvPr/>
        </p:nvSpPr>
        <p:spPr>
          <a:xfrm>
            <a:off x="8001000" y="4023360"/>
            <a:ext cx="0" cy="1965960"/>
          </a:xfrm>
          <a:prstGeom prst="line">
            <a:avLst/>
          </a:prstGeom>
          <a:noFill/>
          <a:ln w="12700">
            <a:solidFill>
              <a:srgbClr val="4E7A80"/>
            </a:solidFill>
            <a:prstDash val="solid"/>
          </a:ln>
        </p:spPr>
      </p:sp>
      <p:sp>
        <p:nvSpPr>
          <p:cNvPr id="16" name="Text 12"/>
          <p:cNvSpPr txBox="1"/>
          <p:nvPr/>
        </p:nvSpPr>
        <p:spPr>
          <a:xfrm>
            <a:off x="8321040" y="3977640"/>
            <a:ext cx="3108960" cy="274320"/>
          </a:xfrm>
          <a:prstGeom prst="rect">
            <a:avLst/>
          </a:prstGeom>
          <a:noFill/>
          <a:ln/>
        </p:spPr>
        <p:txBody>
          <a:bodyPr wrap="square" lIns="0" tIns="0" rIns="0" bIns="0" rtlCol="0" anchor="t"/>
          <a:lstStyle/>
          <a:p>
            <a:pPr indent="0" marL="0">
              <a:buNone/>
            </a:pPr>
            <a:r>
              <a:rPr lang="en-US" sz="1200" b="1" spc="200" kern="0" dirty="0">
                <a:solidFill>
                  <a:schemeClr val="bg2"/>
                </a:solidFill>
              </a:rPr>
              <a:t>GUIDED BY</a:t>
            </a:r>
            <a:endParaRPr lang="en-US" sz="1200" dirty="0"/>
          </a:p>
        </p:txBody>
      </p:sp>
      <p:sp>
        <p:nvSpPr>
          <p:cNvPr id="17" name="Guide"/>
          <p:cNvSpPr txBox="1"/>
          <p:nvPr/>
        </p:nvSpPr>
        <p:spPr>
          <a:xfrm>
            <a:off x="8321040" y="4434840"/>
            <a:ext cx="3200400" cy="1737360"/>
          </a:xfrm>
          <a:prstGeom prst="rect">
            <a:avLst/>
          </a:prstGeom>
          <a:noFill/>
          <a:ln/>
        </p:spPr>
        <p:txBody>
          <a:bodyPr wrap="square" lIns="0" tIns="0" rIns="0" bIns="0" rtlCol="0" anchor="t"/>
          <a:lstStyle/>
          <a:p>
            <a:pPr indent="0" marL="0">
              <a:buNone/>
            </a:pPr>
            <a:r>
              <a:rPr lang="en-US" sz="1900" b="1" dirty="0">
                <a:solidFill>
                  <a:schemeClr val="bg1"/>
                </a:solidFill>
              </a:rPr>
              <a:t>Dr. Husanbir Singh Pannu</a:t>
            </a:r>
            <a:endParaRPr lang="en-US" sz="1500" dirty="0"/>
          </a:p>
          <a:p>
            <a:pPr indent="0" marL="0">
              <a:buNone/>
            </a:pPr>
            <a:r>
              <a:rPr lang="en-US" sz="1400" dirty="0">
                <a:solidFill>
                  <a:schemeClr val="bg2"/>
                </a:solidFill>
              </a:rPr>
              <a:t>Assistant Professor, CSED</a:t>
            </a:r>
            <a:endParaRPr lang="en-US" sz="1500" dirty="0"/>
          </a:p>
          <a:p>
            <a:pPr indent="0" marL="0">
              <a:buNone/>
            </a:pPr>
            <a:r>
              <a:rPr lang="en-US" sz="600" dirty="0">
                <a:solidFill>
                  <a:schemeClr val="tx1"/>
                </a:solidFill>
              </a:rPr>
              <a:t> </a:t>
            </a:r>
            <a:endParaRPr lang="en-US" sz="1500" dirty="0"/>
          </a:p>
          <a:p>
            <a:pPr indent="0" marL="0">
              <a:buNone/>
            </a:pPr>
            <a:r>
              <a:rPr lang="en-US" sz="1200" dirty="0">
                <a:solidFill>
                  <a:schemeClr val="bg2"/>
                </a:solidFill>
              </a:rPr>
              <a:t>Computer Science and Engineering Department</a:t>
            </a:r>
            <a:endParaRPr lang="en-US" sz="1500" dirty="0"/>
          </a:p>
          <a:p>
            <a:pPr indent="0" marL="0">
              <a:buNone/>
            </a:pPr>
            <a:r>
              <a:rPr lang="en-US" sz="1200" dirty="0">
                <a:solidFill>
                  <a:schemeClr val="bg2"/>
                </a:solidFill>
              </a:rPr>
              <a:t>Thapar Institute of Engineering and Technology</a:t>
            </a:r>
            <a:endParaRPr lang="en-US" sz="1500" dirty="0"/>
          </a:p>
          <a:p>
            <a:pPr indent="0" marL="0">
              <a:buNone/>
            </a:pPr>
            <a:r>
              <a:rPr lang="en-US" sz="1200" dirty="0">
                <a:solidFill>
                  <a:schemeClr val="bg2"/>
                </a:solidFill>
              </a:rPr>
              <a:t>Patiala</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Lean South Asians slip through screening</a:t>
            </a:r>
            <a:endParaRPr lang="en-US" sz="3600" dirty="0"/>
          </a:p>
        </p:txBody>
      </p:sp>
      <p:sp>
        <p:nvSpPr>
          <p:cNvPr id="3" name="Text 1"/>
          <p:cNvSpPr txBox="1"/>
          <p:nvPr/>
        </p:nvSpPr>
        <p:spPr>
          <a:xfrm>
            <a:off x="548640" y="1371600"/>
            <a:ext cx="4206240" cy="1097280"/>
          </a:xfrm>
          <a:prstGeom prst="rect">
            <a:avLst/>
          </a:prstGeom>
          <a:noFill/>
          <a:ln/>
        </p:spPr>
        <p:txBody>
          <a:bodyPr wrap="square" lIns="0" tIns="0" rIns="0" bIns="0" rtlCol="0" anchor="b"/>
          <a:lstStyle/>
          <a:p>
            <a:pPr indent="0" marL="0">
              <a:buNone/>
            </a:pPr>
            <a:r>
              <a:rPr lang="en-US" sz="6000" b="1" dirty="0">
                <a:solidFill>
                  <a:schemeClr val="accent3"/>
                </a:solidFill>
                <a:latin typeface="+mj-lt" pitchFamily="34" charset="0"/>
                <a:ea typeface="+mj-lt" pitchFamily="34" charset="-122"/>
                <a:cs typeface="+mj-lt" pitchFamily="34" charset="-120"/>
              </a:rPr>
              <a:t>101 M</a:t>
            </a:r>
            <a:endParaRPr lang="en-US" sz="6000" dirty="0"/>
          </a:p>
        </p:txBody>
      </p:sp>
      <p:sp>
        <p:nvSpPr>
          <p:cNvPr id="4" name="Text 2"/>
          <p:cNvSpPr txBox="1"/>
          <p:nvPr/>
        </p:nvSpPr>
        <p:spPr>
          <a:xfrm>
            <a:off x="548640" y="2514600"/>
            <a:ext cx="4206240" cy="731520"/>
          </a:xfrm>
          <a:prstGeom prst="rect">
            <a:avLst/>
          </a:prstGeom>
          <a:noFill/>
          <a:ln/>
        </p:spPr>
        <p:txBody>
          <a:bodyPr wrap="square" lIns="0" tIns="0" rIns="0" bIns="0" rtlCol="0" anchor="t"/>
          <a:lstStyle/>
          <a:p>
            <a:pPr indent="0" marL="0">
              <a:buNone/>
            </a:pPr>
            <a:r>
              <a:rPr lang="en-US" sz="1800" dirty="0">
                <a:solidFill>
                  <a:schemeClr val="tx1"/>
                </a:solidFill>
              </a:rPr>
              <a:t>adults with diabetes in India</a:t>
            </a:r>
            <a:endParaRPr lang="en-US" sz="1800" dirty="0"/>
          </a:p>
        </p:txBody>
      </p:sp>
      <p:sp>
        <p:nvSpPr>
          <p:cNvPr id="5" name="Text 3"/>
          <p:cNvSpPr txBox="1"/>
          <p:nvPr/>
        </p:nvSpPr>
        <p:spPr>
          <a:xfrm>
            <a:off x="548640" y="3246120"/>
            <a:ext cx="4206240" cy="1097280"/>
          </a:xfrm>
          <a:prstGeom prst="rect">
            <a:avLst/>
          </a:prstGeom>
          <a:noFill/>
          <a:ln/>
        </p:spPr>
        <p:txBody>
          <a:bodyPr wrap="square" lIns="0" tIns="0" rIns="0" bIns="0" rtlCol="0" anchor="b"/>
          <a:lstStyle/>
          <a:p>
            <a:pPr indent="0" marL="0">
              <a:buNone/>
            </a:pPr>
            <a:r>
              <a:rPr lang="en-US" sz="6000" b="1" dirty="0">
                <a:solidFill>
                  <a:schemeClr val="accent3"/>
                </a:solidFill>
                <a:latin typeface="+mj-lt" pitchFamily="34" charset="0"/>
                <a:ea typeface="+mj-lt" pitchFamily="34" charset="-122"/>
                <a:cs typeface="+mj-lt" pitchFamily="34" charset="-120"/>
              </a:rPr>
              <a:t>136 M</a:t>
            </a:r>
            <a:endParaRPr lang="en-US" sz="6000" dirty="0"/>
          </a:p>
        </p:txBody>
      </p:sp>
      <p:sp>
        <p:nvSpPr>
          <p:cNvPr id="6" name="Text 4"/>
          <p:cNvSpPr txBox="1"/>
          <p:nvPr/>
        </p:nvSpPr>
        <p:spPr>
          <a:xfrm>
            <a:off x="548640" y="4389120"/>
            <a:ext cx="4206240" cy="731520"/>
          </a:xfrm>
          <a:prstGeom prst="rect">
            <a:avLst/>
          </a:prstGeom>
          <a:noFill/>
          <a:ln/>
        </p:spPr>
        <p:txBody>
          <a:bodyPr wrap="square" lIns="0" tIns="0" rIns="0" bIns="0" rtlCol="0" anchor="t"/>
          <a:lstStyle/>
          <a:p>
            <a:pPr indent="0" marL="0">
              <a:buNone/>
            </a:pPr>
            <a:r>
              <a:rPr lang="en-US" sz="1800" dirty="0">
                <a:solidFill>
                  <a:schemeClr val="tx1"/>
                </a:solidFill>
              </a:rPr>
              <a:t>adults with prediabetes</a:t>
            </a:r>
            <a:endParaRPr lang="en-US" sz="1800" dirty="0"/>
          </a:p>
        </p:txBody>
      </p:sp>
      <p:sp>
        <p:nvSpPr>
          <p:cNvPr id="7" name="Text 5"/>
          <p:cNvSpPr txBox="1"/>
          <p:nvPr/>
        </p:nvSpPr>
        <p:spPr>
          <a:xfrm>
            <a:off x="548640" y="5257800"/>
            <a:ext cx="4480560" cy="320040"/>
          </a:xfrm>
          <a:prstGeom prst="rect">
            <a:avLst/>
          </a:prstGeom>
          <a:noFill/>
          <a:ln/>
        </p:spPr>
        <p:txBody>
          <a:bodyPr wrap="square" lIns="0" tIns="0" rIns="0" bIns="0" rtlCol="0" anchor="t"/>
          <a:lstStyle/>
          <a:p>
            <a:pPr indent="0" marL="0">
              <a:buNone/>
            </a:pPr>
            <a:r>
              <a:rPr lang="en-US" sz="1100" i="1" dirty="0">
                <a:solidFill>
                  <a:srgbClr val="586A72"/>
                </a:solidFill>
              </a:rPr>
              <a:t>Source: ICMR-INDIAB-17 national survey (Lancet Diabetes Endocrinol., 2023)</a:t>
            </a:r>
            <a:endParaRPr lang="en-US" sz="1100" dirty="0"/>
          </a:p>
        </p:txBody>
      </p:sp>
      <p:sp>
        <p:nvSpPr>
          <p:cNvPr id="8" name="Problem card 1"/>
          <p:cNvSpPr/>
          <p:nvPr/>
        </p:nvSpPr>
        <p:spPr>
          <a:xfrm>
            <a:off x="5394960" y="1417320"/>
            <a:ext cx="6245352" cy="2057400"/>
          </a:xfrm>
          <a:prstGeom prst="roundRect">
            <a:avLst>
              <a:gd name="adj" fmla="val 5333"/>
            </a:avLst>
          </a:prstGeom>
          <a:solidFill>
            <a:schemeClr val="bg2"/>
          </a:solidFill>
          <a:ln w="12700">
            <a:solidFill>
              <a:schemeClr val="bg2"/>
            </a:solidFill>
            <a:prstDash val="solid"/>
          </a:ln>
        </p:spPr>
      </p:sp>
      <p:sp>
        <p:nvSpPr>
          <p:cNvPr id="9" name="Problem 1 circle"/>
          <p:cNvSpPr/>
          <p:nvPr/>
        </p:nvSpPr>
        <p:spPr>
          <a:xfrm>
            <a:off x="5669280" y="1737360"/>
            <a:ext cx="777240" cy="777240"/>
          </a:xfrm>
          <a:prstGeom prst="ellipse">
            <a:avLst/>
          </a:prstGeom>
          <a:solidFill>
            <a:schemeClr val="accent3"/>
          </a:solidFill>
          <a:ln w="12700">
            <a:solidFill>
              <a:schemeClr val="accent3"/>
            </a:solidFill>
            <a:prstDash val="solid"/>
          </a:ln>
        </p:spPr>
      </p:sp>
      <p:pic>
        <p:nvPicPr>
          <p:cNvPr id="10" name="Problem 1 icon" descr="Problem 1 icon">    </p:cNvPr>
          <p:cNvPicPr>
            <a:picLocks noChangeAspect="1"/>
          </p:cNvPicPr>
          <p:nvPr/>
        </p:nvPicPr>
        <p:blipFill>
          <a:blip r:embed="rId1"/>
          <a:stretch>
            <a:fillRect/>
          </a:stretch>
        </p:blipFill>
        <p:spPr>
          <a:xfrm>
            <a:off x="5855818" y="1923898"/>
            <a:ext cx="404165" cy="404165"/>
          </a:xfrm>
          <a:prstGeom prst="rect">
            <a:avLst/>
          </a:prstGeom>
        </p:spPr>
      </p:pic>
      <p:sp>
        <p:nvSpPr>
          <p:cNvPr id="11" name="Text 8"/>
          <p:cNvSpPr txBox="1"/>
          <p:nvPr/>
        </p:nvSpPr>
        <p:spPr>
          <a:xfrm>
            <a:off x="6720840" y="1737360"/>
            <a:ext cx="4663440" cy="411480"/>
          </a:xfrm>
          <a:prstGeom prst="rect">
            <a:avLst/>
          </a:prstGeom>
          <a:noFill/>
          <a:ln/>
        </p:spPr>
        <p:txBody>
          <a:bodyPr wrap="square" lIns="0" tIns="0" rIns="0" bIns="0" rtlCol="0" anchor="t"/>
          <a:lstStyle/>
          <a:p>
            <a:pPr indent="0" marL="0">
              <a:buNone/>
            </a:pPr>
            <a:r>
              <a:rPr lang="en-US" sz="2000" b="1" dirty="0">
                <a:solidFill>
                  <a:schemeClr val="tx1"/>
                </a:solidFill>
              </a:rPr>
              <a:t>A BMI rule misses them</a:t>
            </a:r>
            <a:endParaRPr lang="en-US" sz="2000" dirty="0"/>
          </a:p>
        </p:txBody>
      </p:sp>
      <p:sp>
        <p:nvSpPr>
          <p:cNvPr id="12" name="Text 9"/>
          <p:cNvSpPr txBox="1"/>
          <p:nvPr/>
        </p:nvSpPr>
        <p:spPr>
          <a:xfrm>
            <a:off x="6720840" y="2240280"/>
            <a:ext cx="4663440" cy="1097280"/>
          </a:xfrm>
          <a:prstGeom prst="rect">
            <a:avLst/>
          </a:prstGeom>
          <a:noFill/>
          <a:ln/>
        </p:spPr>
        <p:txBody>
          <a:bodyPr wrap="square" lIns="0" tIns="0" rIns="0" bIns="0" rtlCol="0" anchor="t"/>
          <a:lstStyle/>
          <a:p>
            <a:pPr indent="0" marL="0">
              <a:buNone/>
            </a:pPr>
            <a:r>
              <a:rPr lang="en-US" sz="1500" dirty="0">
                <a:solidFill>
                  <a:schemeClr val="tx1"/>
                </a:solidFill>
              </a:rPr>
              <a:t>South Asians develop type 2 diabetes younger and at a lower body weight than Europeans, so BMI-based screening misses lean people at risk.</a:t>
            </a:r>
            <a:endParaRPr lang="en-US" sz="1500" dirty="0"/>
          </a:p>
        </p:txBody>
      </p:sp>
      <p:sp>
        <p:nvSpPr>
          <p:cNvPr id="13" name="Problem card 2"/>
          <p:cNvSpPr/>
          <p:nvPr/>
        </p:nvSpPr>
        <p:spPr>
          <a:xfrm>
            <a:off x="5394960" y="3749040"/>
            <a:ext cx="6245352" cy="2057400"/>
          </a:xfrm>
          <a:prstGeom prst="roundRect">
            <a:avLst>
              <a:gd name="adj" fmla="val 5333"/>
            </a:avLst>
          </a:prstGeom>
          <a:solidFill>
            <a:schemeClr val="bg2"/>
          </a:solidFill>
          <a:ln w="12700">
            <a:solidFill>
              <a:schemeClr val="bg2"/>
            </a:solidFill>
            <a:prstDash val="solid"/>
          </a:ln>
        </p:spPr>
      </p:sp>
      <p:sp>
        <p:nvSpPr>
          <p:cNvPr id="14" name="Problem 2 circle"/>
          <p:cNvSpPr/>
          <p:nvPr/>
        </p:nvSpPr>
        <p:spPr>
          <a:xfrm>
            <a:off x="5669280" y="4069080"/>
            <a:ext cx="777240" cy="777240"/>
          </a:xfrm>
          <a:prstGeom prst="ellipse">
            <a:avLst/>
          </a:prstGeom>
          <a:solidFill>
            <a:schemeClr val="accent3"/>
          </a:solidFill>
          <a:ln w="12700">
            <a:solidFill>
              <a:schemeClr val="accent3"/>
            </a:solidFill>
            <a:prstDash val="solid"/>
          </a:ln>
        </p:spPr>
      </p:sp>
      <p:pic>
        <p:nvPicPr>
          <p:cNvPr id="15" name="Problem 2 icon" descr="Problem 2 icon">    </p:cNvPr>
          <p:cNvPicPr>
            <a:picLocks noChangeAspect="1"/>
          </p:cNvPicPr>
          <p:nvPr/>
        </p:nvPicPr>
        <p:blipFill>
          <a:blip r:embed="rId2"/>
          <a:stretch>
            <a:fillRect/>
          </a:stretch>
        </p:blipFill>
        <p:spPr>
          <a:xfrm>
            <a:off x="5855818" y="4255618"/>
            <a:ext cx="404165" cy="404165"/>
          </a:xfrm>
          <a:prstGeom prst="rect">
            <a:avLst/>
          </a:prstGeom>
        </p:spPr>
      </p:pic>
      <p:sp>
        <p:nvSpPr>
          <p:cNvPr id="16" name="Text 12"/>
          <p:cNvSpPr txBox="1"/>
          <p:nvPr/>
        </p:nvSpPr>
        <p:spPr>
          <a:xfrm>
            <a:off x="6720840" y="4069080"/>
            <a:ext cx="4663440" cy="411480"/>
          </a:xfrm>
          <a:prstGeom prst="rect">
            <a:avLst/>
          </a:prstGeom>
          <a:noFill/>
          <a:ln/>
        </p:spPr>
        <p:txBody>
          <a:bodyPr wrap="square" lIns="0" tIns="0" rIns="0" bIns="0" rtlCol="0" anchor="t"/>
          <a:lstStyle/>
          <a:p>
            <a:pPr indent="0" marL="0">
              <a:buNone/>
            </a:pPr>
            <a:r>
              <a:rPr lang="en-US" sz="2000" b="1" dirty="0">
                <a:solidFill>
                  <a:schemeClr val="tx1"/>
                </a:solidFill>
              </a:rPr>
              <a:t>The IDRS cannot see genes</a:t>
            </a:r>
            <a:endParaRPr lang="en-US" sz="2000" dirty="0"/>
          </a:p>
        </p:txBody>
      </p:sp>
      <p:sp>
        <p:nvSpPr>
          <p:cNvPr id="17" name="Text 13"/>
          <p:cNvSpPr txBox="1"/>
          <p:nvPr/>
        </p:nvSpPr>
        <p:spPr>
          <a:xfrm>
            <a:off x="6720840" y="4572000"/>
            <a:ext cx="4663440" cy="1097280"/>
          </a:xfrm>
          <a:prstGeom prst="rect">
            <a:avLst/>
          </a:prstGeom>
          <a:noFill/>
          <a:ln/>
        </p:spPr>
        <p:txBody>
          <a:bodyPr wrap="square" lIns="0" tIns="0" rIns="0" bIns="0" rtlCol="0" anchor="t"/>
          <a:lstStyle/>
          <a:p>
            <a:pPr indent="0" marL="0">
              <a:buNone/>
            </a:pPr>
            <a:r>
              <a:rPr lang="en-US" sz="1500" dirty="0">
                <a:solidFill>
                  <a:schemeClr val="tx1"/>
                </a:solidFill>
              </a:rPr>
              <a:t>India's screening questionnaire scores age, waist, activity and family history, so a young, slim person scores low even with high inherited risk.</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What QGenomix sets out to answer</a:t>
            </a:r>
            <a:endParaRPr lang="en-US" sz="3600" dirty="0"/>
          </a:p>
        </p:txBody>
      </p:sp>
      <p:sp>
        <p:nvSpPr>
          <p:cNvPr id="3" name="Question card 1"/>
          <p:cNvSpPr/>
          <p:nvPr/>
        </p:nvSpPr>
        <p:spPr>
          <a:xfrm>
            <a:off x="548640" y="1417320"/>
            <a:ext cx="5408676" cy="3063240"/>
          </a:xfrm>
          <a:prstGeom prst="roundRect">
            <a:avLst>
              <a:gd name="adj" fmla="val 3582"/>
            </a:avLst>
          </a:prstGeom>
          <a:solidFill>
            <a:schemeClr val="bg2"/>
          </a:solidFill>
          <a:ln w="12700">
            <a:solidFill>
              <a:schemeClr val="bg2"/>
            </a:solidFill>
            <a:prstDash val="solid"/>
          </a:ln>
        </p:spPr>
      </p:sp>
      <p:sp>
        <p:nvSpPr>
          <p:cNvPr id="4" name="Question 1 circle"/>
          <p:cNvSpPr/>
          <p:nvPr/>
        </p:nvSpPr>
        <p:spPr>
          <a:xfrm>
            <a:off x="868680" y="1691640"/>
            <a:ext cx="685800" cy="685800"/>
          </a:xfrm>
          <a:prstGeom prst="ellipse">
            <a:avLst/>
          </a:prstGeom>
          <a:solidFill>
            <a:schemeClr val="accent1"/>
          </a:solidFill>
          <a:ln w="12700">
            <a:solidFill>
              <a:schemeClr val="accent1"/>
            </a:solidFill>
            <a:prstDash val="solid"/>
          </a:ln>
        </p:spPr>
      </p:sp>
      <p:sp>
        <p:nvSpPr>
          <p:cNvPr id="5" name="Question 1 number"/>
          <p:cNvSpPr txBox="1"/>
          <p:nvPr/>
        </p:nvSpPr>
        <p:spPr>
          <a:xfrm>
            <a:off x="868680" y="169164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1</a:t>
            </a:r>
            <a:endParaRPr lang="en-US" sz="2400" dirty="0"/>
          </a:p>
        </p:txBody>
      </p:sp>
      <p:sp>
        <p:nvSpPr>
          <p:cNvPr id="6" name="Text 4"/>
          <p:cNvSpPr txBox="1"/>
          <p:nvPr/>
        </p:nvSpPr>
        <p:spPr>
          <a:xfrm>
            <a:off x="868680" y="2560320"/>
            <a:ext cx="4800600" cy="1325880"/>
          </a:xfrm>
          <a:prstGeom prst="rect">
            <a:avLst/>
          </a:prstGeom>
          <a:noFill/>
          <a:ln/>
        </p:spPr>
        <p:txBody>
          <a:bodyPr wrap="square" lIns="0" tIns="0" rIns="0" bIns="0" rtlCol="0" anchor="t"/>
          <a:lstStyle/>
          <a:p>
            <a:pPr indent="0" marL="0">
              <a:buNone/>
            </a:pPr>
            <a:r>
              <a:rPr lang="en-US" sz="1900" b="1" dirty="0">
                <a:solidFill>
                  <a:schemeClr val="tx1"/>
                </a:solidFill>
              </a:rPr>
              <a:t>How much does genetics add to India's screening questionnaire, especially for lean people?</a:t>
            </a:r>
            <a:endParaRPr lang="en-US" sz="1900" dirty="0"/>
          </a:p>
        </p:txBody>
      </p:sp>
      <p:sp>
        <p:nvSpPr>
          <p:cNvPr id="7" name="Text 5"/>
          <p:cNvSpPr txBox="1"/>
          <p:nvPr/>
        </p:nvSpPr>
        <p:spPr>
          <a:xfrm>
            <a:off x="868680" y="3977640"/>
            <a:ext cx="4754880" cy="365760"/>
          </a:xfrm>
          <a:prstGeom prst="rect">
            <a:avLst/>
          </a:prstGeom>
          <a:noFill/>
          <a:ln/>
        </p:spPr>
        <p:txBody>
          <a:bodyPr wrap="square" lIns="0" tIns="0" rIns="0" bIns="0" rtlCol="0" anchor="t"/>
          <a:lstStyle/>
          <a:p>
            <a:pPr indent="0" marL="0">
              <a:buNone/>
            </a:pPr>
            <a:r>
              <a:rPr lang="en-US" sz="1400" i="1" dirty="0">
                <a:solidFill>
                  <a:srgbClr val="586A72"/>
                </a:solidFill>
              </a:rPr>
              <a:t>Answered with polygenic and mechanism scores on real genomes</a:t>
            </a:r>
            <a:endParaRPr lang="en-US" sz="1400" dirty="0"/>
          </a:p>
        </p:txBody>
      </p:sp>
      <p:sp>
        <p:nvSpPr>
          <p:cNvPr id="8" name="Question card 2"/>
          <p:cNvSpPr/>
          <p:nvPr/>
        </p:nvSpPr>
        <p:spPr>
          <a:xfrm>
            <a:off x="6231636" y="1417320"/>
            <a:ext cx="5408676" cy="3063240"/>
          </a:xfrm>
          <a:prstGeom prst="roundRect">
            <a:avLst>
              <a:gd name="adj" fmla="val 3582"/>
            </a:avLst>
          </a:prstGeom>
          <a:solidFill>
            <a:schemeClr val="bg2"/>
          </a:solidFill>
          <a:ln w="12700">
            <a:solidFill>
              <a:schemeClr val="bg2"/>
            </a:solidFill>
            <a:prstDash val="solid"/>
          </a:ln>
        </p:spPr>
      </p:sp>
      <p:sp>
        <p:nvSpPr>
          <p:cNvPr id="9" name="Question 2 circle"/>
          <p:cNvSpPr/>
          <p:nvPr/>
        </p:nvSpPr>
        <p:spPr>
          <a:xfrm>
            <a:off x="6551676" y="1691640"/>
            <a:ext cx="685800" cy="685800"/>
          </a:xfrm>
          <a:prstGeom prst="ellipse">
            <a:avLst/>
          </a:prstGeom>
          <a:solidFill>
            <a:schemeClr val="accent2"/>
          </a:solidFill>
          <a:ln w="12700">
            <a:solidFill>
              <a:schemeClr val="accent2"/>
            </a:solidFill>
            <a:prstDash val="solid"/>
          </a:ln>
        </p:spPr>
      </p:sp>
      <p:sp>
        <p:nvSpPr>
          <p:cNvPr id="10" name="Question 2 number"/>
          <p:cNvSpPr txBox="1"/>
          <p:nvPr/>
        </p:nvSpPr>
        <p:spPr>
          <a:xfrm>
            <a:off x="6551676" y="1691640"/>
            <a:ext cx="685800" cy="68580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2</a:t>
            </a:r>
            <a:endParaRPr lang="en-US" sz="2400" dirty="0"/>
          </a:p>
        </p:txBody>
      </p:sp>
      <p:sp>
        <p:nvSpPr>
          <p:cNvPr id="11" name="Text 9"/>
          <p:cNvSpPr txBox="1"/>
          <p:nvPr/>
        </p:nvSpPr>
        <p:spPr>
          <a:xfrm>
            <a:off x="6551676" y="2560320"/>
            <a:ext cx="4800600" cy="1325880"/>
          </a:xfrm>
          <a:prstGeom prst="rect">
            <a:avLst/>
          </a:prstGeom>
          <a:noFill/>
          <a:ln/>
        </p:spPr>
        <p:txBody>
          <a:bodyPr wrap="square" lIns="0" tIns="0" rIns="0" bIns="0" rtlCol="0" anchor="t"/>
          <a:lstStyle/>
          <a:p>
            <a:pPr indent="0" marL="0">
              <a:buNone/>
            </a:pPr>
            <a:r>
              <a:rPr lang="en-US" sz="1900" b="1" dirty="0">
                <a:solidFill>
                  <a:schemeClr val="tx1"/>
                </a:solidFill>
              </a:rPr>
              <a:t>Do insulin-production (β-cell) and fat-distribution (lipodystrophy) variants interact, and can quantum optimisation help find them?</a:t>
            </a:r>
            <a:endParaRPr lang="en-US" sz="1900" dirty="0"/>
          </a:p>
        </p:txBody>
      </p:sp>
      <p:sp>
        <p:nvSpPr>
          <p:cNvPr id="12" name="Text 10"/>
          <p:cNvSpPr txBox="1"/>
          <p:nvPr/>
        </p:nvSpPr>
        <p:spPr>
          <a:xfrm>
            <a:off x="6551676" y="3977640"/>
            <a:ext cx="4754880" cy="365760"/>
          </a:xfrm>
          <a:prstGeom prst="rect">
            <a:avLst/>
          </a:prstGeom>
          <a:noFill/>
          <a:ln/>
        </p:spPr>
        <p:txBody>
          <a:bodyPr wrap="square" lIns="0" tIns="0" rIns="0" bIns="0" rtlCol="0" anchor="t"/>
          <a:lstStyle/>
          <a:p>
            <a:pPr indent="0" marL="0">
              <a:buNone/>
            </a:pPr>
            <a:r>
              <a:rPr lang="en-US" sz="1400" i="1" dirty="0">
                <a:solidFill>
                  <a:srgbClr val="586A72"/>
                </a:solidFill>
              </a:rPr>
              <a:t>Answered with a score test, QUBO, QAOA and a quantum encoder</a:t>
            </a:r>
            <a:endParaRPr lang="en-US" sz="1400" dirty="0"/>
          </a:p>
        </p:txBody>
      </p:sp>
      <p:sp>
        <p:nvSpPr>
          <p:cNvPr id="13" name="Control principle outline"/>
          <p:cNvSpPr/>
          <p:nvPr/>
        </p:nvSpPr>
        <p:spPr>
          <a:xfrm>
            <a:off x="548640" y="4800600"/>
            <a:ext cx="11094415" cy="1188720"/>
          </a:xfrm>
          <a:prstGeom prst="roundRect">
            <a:avLst>
              <a:gd name="adj" fmla="val 9231"/>
            </a:avLst>
          </a:prstGeom>
          <a:solidFill>
            <a:schemeClr val="bg1"/>
          </a:solidFill>
          <a:ln w="15875">
            <a:solidFill>
              <a:schemeClr val="accent2"/>
            </a:solidFill>
            <a:prstDash val="solid"/>
          </a:ln>
        </p:spPr>
      </p:sp>
      <p:sp>
        <p:nvSpPr>
          <p:cNvPr id="14" name="Control principle circle"/>
          <p:cNvSpPr/>
          <p:nvPr/>
        </p:nvSpPr>
        <p:spPr>
          <a:xfrm>
            <a:off x="868680" y="5001768"/>
            <a:ext cx="777240" cy="777240"/>
          </a:xfrm>
          <a:prstGeom prst="ellipse">
            <a:avLst/>
          </a:prstGeom>
          <a:solidFill>
            <a:schemeClr val="accent2"/>
          </a:solidFill>
          <a:ln w="12700">
            <a:solidFill>
              <a:schemeClr val="accent2"/>
            </a:solidFill>
            <a:prstDash val="solid"/>
          </a:ln>
        </p:spPr>
      </p:sp>
      <p:pic>
        <p:nvPicPr>
          <p:cNvPr id="15" name="Control principle icon" descr="Control principle icon">    </p:cNvPr>
          <p:cNvPicPr>
            <a:picLocks noChangeAspect="1"/>
          </p:cNvPicPr>
          <p:nvPr/>
        </p:nvPicPr>
        <p:blipFill>
          <a:blip r:embed="rId1"/>
          <a:stretch>
            <a:fillRect/>
          </a:stretch>
        </p:blipFill>
        <p:spPr>
          <a:xfrm>
            <a:off x="1055218" y="5188306"/>
            <a:ext cx="404165" cy="404165"/>
          </a:xfrm>
          <a:prstGeom prst="rect">
            <a:avLst/>
          </a:prstGeom>
        </p:spPr>
      </p:pic>
      <p:sp>
        <p:nvSpPr>
          <p:cNvPr id="16" name="Text 13"/>
          <p:cNvSpPr txBox="1"/>
          <p:nvPr/>
        </p:nvSpPr>
        <p:spPr>
          <a:xfrm>
            <a:off x="1920240" y="5001768"/>
            <a:ext cx="9402775" cy="822960"/>
          </a:xfrm>
          <a:prstGeom prst="rect">
            <a:avLst/>
          </a:prstGeom>
          <a:noFill/>
          <a:ln/>
        </p:spPr>
        <p:txBody>
          <a:bodyPr wrap="square" lIns="0" tIns="0" rIns="0" bIns="0" rtlCol="0" anchor="ctr"/>
          <a:lstStyle/>
          <a:p>
            <a:pPr indent="0" marL="0">
              <a:buNone/>
            </a:pPr>
            <a:r>
              <a:rPr lang="en-US" sz="1600" b="1" dirty="0">
                <a:solidFill>
                  <a:schemeClr val="tx1"/>
                </a:solidFill>
              </a:rPr>
              <a:t>Every quantum component has a classical control: </a:t>
            </a:r>
            <a:pPr indent="0" marL="0">
              <a:buNone/>
            </a:pPr>
            <a:r>
              <a:rPr lang="en-US" sz="1600" dirty="0">
                <a:solidFill>
                  <a:schemeClr val="tx1"/>
                </a:solidFill>
              </a:rPr>
              <a:t>simulated annealing for QAOA, and the same circuit without entanglement plus a classical network of similar size for the quantum encoder.</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Real genomes, simulated outcomes</a:t>
            </a:r>
            <a:endParaRPr lang="en-US" sz="3600" dirty="0"/>
          </a:p>
        </p:txBody>
      </p:sp>
      <p:sp>
        <p:nvSpPr>
          <p:cNvPr id="3" name="Data card 1"/>
          <p:cNvSpPr/>
          <p:nvPr/>
        </p:nvSpPr>
        <p:spPr>
          <a:xfrm>
            <a:off x="548640" y="1417320"/>
            <a:ext cx="3520440" cy="3337560"/>
          </a:xfrm>
          <a:prstGeom prst="roundRect">
            <a:avLst>
              <a:gd name="adj" fmla="val 3288"/>
            </a:avLst>
          </a:prstGeom>
          <a:solidFill>
            <a:schemeClr val="bg2"/>
          </a:solidFill>
          <a:ln w="12700">
            <a:solidFill>
              <a:schemeClr val="bg2"/>
            </a:solidFill>
            <a:prstDash val="solid"/>
          </a:ln>
        </p:spPr>
      </p:sp>
      <p:sp>
        <p:nvSpPr>
          <p:cNvPr id="4" name="Data 1 circle"/>
          <p:cNvSpPr/>
          <p:nvPr/>
        </p:nvSpPr>
        <p:spPr>
          <a:xfrm>
            <a:off x="868680" y="1691640"/>
            <a:ext cx="822960" cy="822960"/>
          </a:xfrm>
          <a:prstGeom prst="ellipse">
            <a:avLst/>
          </a:prstGeom>
          <a:solidFill>
            <a:schemeClr val="accent1"/>
          </a:solidFill>
          <a:ln w="12700">
            <a:solidFill>
              <a:schemeClr val="accent1"/>
            </a:solidFill>
            <a:prstDash val="solid"/>
          </a:ln>
        </p:spPr>
      </p:sp>
      <p:pic>
        <p:nvPicPr>
          <p:cNvPr id="5" name="Data 1 icon" descr="Data 1 icon">    </p:cNvPr>
          <p:cNvPicPr>
            <a:picLocks noChangeAspect="1"/>
          </p:cNvPicPr>
          <p:nvPr/>
        </p:nvPicPr>
        <p:blipFill>
          <a:blip r:embed="rId1"/>
          <a:stretch>
            <a:fillRect/>
          </a:stretch>
        </p:blipFill>
        <p:spPr>
          <a:xfrm>
            <a:off x="1066190" y="1889150"/>
            <a:ext cx="427939" cy="427939"/>
          </a:xfrm>
          <a:prstGeom prst="rect">
            <a:avLst/>
          </a:prstGeom>
        </p:spPr>
      </p:pic>
      <p:sp>
        <p:nvSpPr>
          <p:cNvPr id="6" name="Text 3"/>
          <p:cNvSpPr txBox="1"/>
          <p:nvPr/>
        </p:nvSpPr>
        <p:spPr>
          <a:xfrm>
            <a:off x="868680" y="2697480"/>
            <a:ext cx="2926080" cy="411480"/>
          </a:xfrm>
          <a:prstGeom prst="rect">
            <a:avLst/>
          </a:prstGeom>
          <a:noFill/>
          <a:ln/>
        </p:spPr>
        <p:txBody>
          <a:bodyPr wrap="square" lIns="0" tIns="0" rIns="0" bIns="0" rtlCol="0" anchor="t"/>
          <a:lstStyle/>
          <a:p>
            <a:pPr indent="0" marL="0">
              <a:buNone/>
            </a:pPr>
            <a:r>
              <a:rPr lang="en-US" sz="2000" b="1" dirty="0">
                <a:solidFill>
                  <a:schemeClr val="tx1"/>
                </a:solidFill>
              </a:rPr>
              <a:t>1000 Genomes</a:t>
            </a:r>
            <a:endParaRPr lang="en-US" sz="2000" dirty="0"/>
          </a:p>
        </p:txBody>
      </p:sp>
      <p:sp>
        <p:nvSpPr>
          <p:cNvPr id="7" name="Text 4"/>
          <p:cNvSpPr txBox="1"/>
          <p:nvPr/>
        </p:nvSpPr>
        <p:spPr>
          <a:xfrm>
            <a:off x="868680" y="3200400"/>
            <a:ext cx="29718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2,504 real genomes</a:t>
            </a:r>
            <a:endParaRPr lang="en-US" sz="1500" dirty="0"/>
          </a:p>
          <a:p>
            <a:pPr marL="342900" indent="-342900">
              <a:spcAft>
                <a:spcPts val="600"/>
              </a:spcAft>
              <a:buSzPct val="100000"/>
              <a:buChar char="•"/>
            </a:pPr>
            <a:r>
              <a:rPr lang="en-US" sz="1500" dirty="0">
                <a:solidFill>
                  <a:schemeClr val="tx1"/>
                </a:solidFill>
              </a:rPr>
              <a:t>84 million variants</a:t>
            </a:r>
            <a:endParaRPr lang="en-US" sz="1500" dirty="0"/>
          </a:p>
          <a:p>
            <a:pPr marL="342900" indent="-342900">
              <a:spcAft>
                <a:spcPts val="600"/>
              </a:spcAft>
              <a:buSzPct val="100000"/>
              <a:buChar char="•"/>
            </a:pPr>
            <a:r>
              <a:rPr lang="en-US" sz="1500" dirty="0">
                <a:solidFill>
                  <a:schemeClr val="tx1"/>
                </a:solidFill>
              </a:rPr>
              <a:t>489 South Asians: 978 haplotypes</a:t>
            </a:r>
            <a:endParaRPr lang="en-US" sz="1500" dirty="0"/>
          </a:p>
        </p:txBody>
      </p:sp>
      <p:sp>
        <p:nvSpPr>
          <p:cNvPr id="8" name="Data card 2"/>
          <p:cNvSpPr/>
          <p:nvPr/>
        </p:nvSpPr>
        <p:spPr>
          <a:xfrm>
            <a:off x="4334256" y="1417320"/>
            <a:ext cx="3520440" cy="3337560"/>
          </a:xfrm>
          <a:prstGeom prst="roundRect">
            <a:avLst>
              <a:gd name="adj" fmla="val 3288"/>
            </a:avLst>
          </a:prstGeom>
          <a:solidFill>
            <a:schemeClr val="bg2"/>
          </a:solidFill>
          <a:ln w="12700">
            <a:solidFill>
              <a:schemeClr val="bg2"/>
            </a:solidFill>
            <a:prstDash val="solid"/>
          </a:ln>
        </p:spPr>
      </p:sp>
      <p:sp>
        <p:nvSpPr>
          <p:cNvPr id="9" name="Data 2 circle"/>
          <p:cNvSpPr/>
          <p:nvPr/>
        </p:nvSpPr>
        <p:spPr>
          <a:xfrm>
            <a:off x="4654296" y="1691640"/>
            <a:ext cx="822960" cy="822960"/>
          </a:xfrm>
          <a:prstGeom prst="ellipse">
            <a:avLst/>
          </a:prstGeom>
          <a:solidFill>
            <a:schemeClr val="accent4"/>
          </a:solidFill>
          <a:ln w="12700">
            <a:solidFill>
              <a:schemeClr val="accent4"/>
            </a:solidFill>
            <a:prstDash val="solid"/>
          </a:ln>
        </p:spPr>
      </p:sp>
      <p:pic>
        <p:nvPicPr>
          <p:cNvPr id="10" name="Data 2 icon" descr="Data 2 icon">    </p:cNvPr>
          <p:cNvPicPr>
            <a:picLocks noChangeAspect="1"/>
          </p:cNvPicPr>
          <p:nvPr/>
        </p:nvPicPr>
        <p:blipFill>
          <a:blip r:embed="rId2"/>
          <a:stretch>
            <a:fillRect/>
          </a:stretch>
        </p:blipFill>
        <p:spPr>
          <a:xfrm>
            <a:off x="4851806" y="1889150"/>
            <a:ext cx="427939" cy="427939"/>
          </a:xfrm>
          <a:prstGeom prst="rect">
            <a:avLst/>
          </a:prstGeom>
        </p:spPr>
      </p:pic>
      <p:sp>
        <p:nvSpPr>
          <p:cNvPr id="11" name="Text 7"/>
          <p:cNvSpPr txBox="1"/>
          <p:nvPr/>
        </p:nvSpPr>
        <p:spPr>
          <a:xfrm>
            <a:off x="4654296" y="2697480"/>
            <a:ext cx="2926080" cy="411480"/>
          </a:xfrm>
          <a:prstGeom prst="rect">
            <a:avLst/>
          </a:prstGeom>
          <a:noFill/>
          <a:ln/>
        </p:spPr>
        <p:txBody>
          <a:bodyPr wrap="square" lIns="0" tIns="0" rIns="0" bIns="0" rtlCol="0" anchor="t"/>
          <a:lstStyle/>
          <a:p>
            <a:pPr indent="0" marL="0">
              <a:buNone/>
            </a:pPr>
            <a:r>
              <a:rPr lang="en-US" sz="2000" b="1" dirty="0">
                <a:solidFill>
                  <a:schemeClr val="tx1"/>
                </a:solidFill>
              </a:rPr>
              <a:t>Published scores</a:t>
            </a:r>
            <a:endParaRPr lang="en-US" sz="2000" dirty="0"/>
          </a:p>
        </p:txBody>
      </p:sp>
      <p:sp>
        <p:nvSpPr>
          <p:cNvPr id="12" name="Text 8"/>
          <p:cNvSpPr txBox="1"/>
          <p:nvPr/>
        </p:nvSpPr>
        <p:spPr>
          <a:xfrm>
            <a:off x="4654296" y="3200400"/>
            <a:ext cx="29718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D-PRISM South Asian PRS: 1.34 M variants</a:t>
            </a:r>
            <a:endParaRPr lang="en-US" sz="1500" dirty="0"/>
          </a:p>
          <a:p>
            <a:pPr marL="342900" indent="-342900">
              <a:spcAft>
                <a:spcPts val="600"/>
              </a:spcAft>
              <a:buSzPct val="100000"/>
              <a:buChar char="•"/>
            </a:pPr>
            <a:r>
              <a:rPr lang="en-US" sz="1500" dirty="0">
                <a:solidFill>
                  <a:schemeClr val="tx1"/>
                </a:solidFill>
              </a:rPr>
              <a:t>5 mechanism scores, 62 SNPs</a:t>
            </a:r>
            <a:endParaRPr lang="en-US" sz="1500" dirty="0"/>
          </a:p>
          <a:p>
            <a:pPr marL="342900" indent="-342900">
              <a:spcAft>
                <a:spcPts val="600"/>
              </a:spcAft>
              <a:buSzPct val="100000"/>
              <a:buChar char="•"/>
            </a:pPr>
            <a:r>
              <a:rPr lang="en-US" sz="1500" dirty="0">
                <a:solidFill>
                  <a:schemeClr val="tx1"/>
                </a:solidFill>
              </a:rPr>
              <a:t>1,263 cross-mechanism SNP pairs</a:t>
            </a:r>
            <a:endParaRPr lang="en-US" sz="1500" dirty="0"/>
          </a:p>
        </p:txBody>
      </p:sp>
      <p:sp>
        <p:nvSpPr>
          <p:cNvPr id="13" name="Data card 3"/>
          <p:cNvSpPr/>
          <p:nvPr/>
        </p:nvSpPr>
        <p:spPr>
          <a:xfrm>
            <a:off x="8119872" y="1417320"/>
            <a:ext cx="3520440" cy="3337560"/>
          </a:xfrm>
          <a:prstGeom prst="roundRect">
            <a:avLst>
              <a:gd name="adj" fmla="val 3288"/>
            </a:avLst>
          </a:prstGeom>
          <a:solidFill>
            <a:schemeClr val="bg2"/>
          </a:solidFill>
          <a:ln w="12700">
            <a:solidFill>
              <a:schemeClr val="bg2"/>
            </a:solidFill>
            <a:prstDash val="solid"/>
          </a:ln>
        </p:spPr>
      </p:sp>
      <p:sp>
        <p:nvSpPr>
          <p:cNvPr id="14" name="Data 3 circle"/>
          <p:cNvSpPr/>
          <p:nvPr/>
        </p:nvSpPr>
        <p:spPr>
          <a:xfrm>
            <a:off x="8439912" y="1691640"/>
            <a:ext cx="822960" cy="822960"/>
          </a:xfrm>
          <a:prstGeom prst="ellipse">
            <a:avLst/>
          </a:prstGeom>
          <a:solidFill>
            <a:schemeClr val="accent2"/>
          </a:solidFill>
          <a:ln w="12700">
            <a:solidFill>
              <a:schemeClr val="accent2"/>
            </a:solidFill>
            <a:prstDash val="solid"/>
          </a:ln>
        </p:spPr>
      </p:sp>
      <p:pic>
        <p:nvPicPr>
          <p:cNvPr id="15" name="Data 3 icon" descr="Data 3 icon">    </p:cNvPr>
          <p:cNvPicPr>
            <a:picLocks noChangeAspect="1"/>
          </p:cNvPicPr>
          <p:nvPr/>
        </p:nvPicPr>
        <p:blipFill>
          <a:blip r:embed="rId3"/>
          <a:stretch>
            <a:fillRect/>
          </a:stretch>
        </p:blipFill>
        <p:spPr>
          <a:xfrm>
            <a:off x="8637422" y="1889150"/>
            <a:ext cx="427939" cy="427939"/>
          </a:xfrm>
          <a:prstGeom prst="rect">
            <a:avLst/>
          </a:prstGeom>
        </p:spPr>
      </p:pic>
      <p:sp>
        <p:nvSpPr>
          <p:cNvPr id="16" name="Text 11"/>
          <p:cNvSpPr txBox="1"/>
          <p:nvPr/>
        </p:nvSpPr>
        <p:spPr>
          <a:xfrm>
            <a:off x="8439912" y="2697480"/>
            <a:ext cx="2926080" cy="411480"/>
          </a:xfrm>
          <a:prstGeom prst="rect">
            <a:avLst/>
          </a:prstGeom>
          <a:noFill/>
          <a:ln/>
        </p:spPr>
        <p:txBody>
          <a:bodyPr wrap="square" lIns="0" tIns="0" rIns="0" bIns="0" rtlCol="0" anchor="t"/>
          <a:lstStyle/>
          <a:p>
            <a:pPr indent="0" marL="0">
              <a:buNone/>
            </a:pPr>
            <a:r>
              <a:rPr lang="en-US" sz="2000" b="1" dirty="0">
                <a:solidFill>
                  <a:schemeClr val="tx1"/>
                </a:solidFill>
              </a:rPr>
              <a:t>Synthetic cohort</a:t>
            </a:r>
            <a:endParaRPr lang="en-US" sz="2000" dirty="0"/>
          </a:p>
        </p:txBody>
      </p:sp>
      <p:sp>
        <p:nvSpPr>
          <p:cNvPr id="17" name="Text 12"/>
          <p:cNvSpPr txBox="1"/>
          <p:nvPr/>
        </p:nvSpPr>
        <p:spPr>
          <a:xfrm>
            <a:off x="8439912" y="3200400"/>
            <a:ext cx="29718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10,000 South Asians as haplotype mosaics</a:t>
            </a:r>
            <a:endParaRPr lang="en-US" sz="1500" dirty="0"/>
          </a:p>
          <a:p>
            <a:pPr marL="342900" indent="-342900">
              <a:spcAft>
                <a:spcPts val="600"/>
              </a:spcAft>
              <a:buSzPct val="100000"/>
              <a:buChar char="•"/>
            </a:pPr>
            <a:r>
              <a:rPr lang="en-US" sz="1500" dirty="0">
                <a:solidFill>
                  <a:schemeClr val="tx1"/>
                </a:solidFill>
              </a:rPr>
              <a:t>Simulated T2D, 11% prevalence</a:t>
            </a:r>
            <a:endParaRPr lang="en-US" sz="1500" dirty="0"/>
          </a:p>
          <a:p>
            <a:pPr marL="342900" indent="-342900">
              <a:spcAft>
                <a:spcPts val="600"/>
              </a:spcAft>
              <a:buSzPct val="100000"/>
              <a:buChar char="•"/>
            </a:pPr>
            <a:r>
              <a:rPr lang="en-US" sz="1500" dirty="0">
                <a:solidFill>
                  <a:schemeClr val="tx1"/>
                </a:solidFill>
              </a:rPr>
              <a:t>10 planted gene pairs: known truth</a:t>
            </a:r>
            <a:endParaRPr lang="en-US" sz="1500" dirty="0"/>
          </a:p>
        </p:txBody>
      </p:sp>
      <p:sp>
        <p:nvSpPr>
          <p:cNvPr id="18" name="Text 13"/>
          <p:cNvSpPr txBox="1"/>
          <p:nvPr/>
        </p:nvSpPr>
        <p:spPr>
          <a:xfrm>
            <a:off x="548640" y="5029200"/>
            <a:ext cx="11094415" cy="822960"/>
          </a:xfrm>
          <a:prstGeom prst="rect">
            <a:avLst/>
          </a:prstGeom>
          <a:noFill/>
          <a:ln/>
        </p:spPr>
        <p:txBody>
          <a:bodyPr wrap="square" lIns="0" tIns="0" rIns="0" bIns="0" rtlCol="0" anchor="t"/>
          <a:lstStyle/>
          <a:p>
            <a:pPr indent="0" marL="0">
              <a:buNone/>
            </a:pPr>
            <a:r>
              <a:rPr lang="en-US" sz="1600" b="1" dirty="0">
                <a:solidFill>
                  <a:schemeClr val="tx1"/>
                </a:solidFill>
              </a:rPr>
              <a:t>Why simulate the outcomes? </a:t>
            </a:r>
            <a:pPr indent="0" marL="0">
              <a:buNone/>
            </a:pPr>
            <a:r>
              <a:rPr lang="en-US" sz="1600" dirty="0">
                <a:solidFill>
                  <a:schemeClr val="tx1"/>
                </a:solidFill>
              </a:rPr>
              <a:t>A known ground truth lets every discovery claim be checked. The synthetic cohort matches real South Asian allele frequencies (r = 0.9999), and models are re-tested on the real genomes.</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Eight stages, two of them quantum</a:t>
            </a:r>
            <a:endParaRPr lang="en-US" sz="3600" dirty="0"/>
          </a:p>
        </p:txBody>
      </p:sp>
      <p:pic>
        <p:nvPicPr>
          <p:cNvPr id="3" name="Architecture diagram" descr="QGenomix architecture: three inputs feed eight stages, two of them quantum">    </p:cNvPr>
          <p:cNvPicPr>
            <a:picLocks noChangeAspect="1"/>
          </p:cNvPicPr>
          <p:nvPr/>
        </p:nvPicPr>
        <p:blipFill>
          <a:blip r:embed="rId1"/>
          <a:stretch>
            <a:fillRect/>
          </a:stretch>
        </p:blipFill>
        <p:spPr>
          <a:xfrm>
            <a:off x="1843888" y="1234440"/>
            <a:ext cx="8503920" cy="4944615"/>
          </a:xfrm>
          <a:prstGeom prst="rect">
            <a:avLst/>
          </a:prstGeom>
        </p:spPr>
      </p:pic>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Where the quantum computing comes in</a:t>
            </a:r>
            <a:endParaRPr lang="en-US" sz="3600" dirty="0"/>
          </a:p>
        </p:txBody>
      </p:sp>
      <p:sp>
        <p:nvSpPr>
          <p:cNvPr id="3" name="Quantum 1 circle"/>
          <p:cNvSpPr/>
          <p:nvPr/>
        </p:nvSpPr>
        <p:spPr>
          <a:xfrm>
            <a:off x="548640" y="1417320"/>
            <a:ext cx="731520" cy="731520"/>
          </a:xfrm>
          <a:prstGeom prst="ellipse">
            <a:avLst/>
          </a:prstGeom>
          <a:solidFill>
            <a:schemeClr val="accent2"/>
          </a:solidFill>
          <a:ln w="12700">
            <a:solidFill>
              <a:schemeClr val="accent2"/>
            </a:solidFill>
            <a:prstDash val="solid"/>
          </a:ln>
        </p:spPr>
      </p:sp>
      <p:pic>
        <p:nvPicPr>
          <p:cNvPr id="4" name="Quantum 1 icon" descr="Quantum 1 icon">    </p:cNvPr>
          <p:cNvPicPr>
            <a:picLocks noChangeAspect="1"/>
          </p:cNvPicPr>
          <p:nvPr/>
        </p:nvPicPr>
        <p:blipFill>
          <a:blip r:embed="rId1"/>
          <a:stretch>
            <a:fillRect/>
          </a:stretch>
        </p:blipFill>
        <p:spPr>
          <a:xfrm>
            <a:off x="724205" y="1592885"/>
            <a:ext cx="380390" cy="380390"/>
          </a:xfrm>
          <a:prstGeom prst="rect">
            <a:avLst/>
          </a:prstGeom>
        </p:spPr>
      </p:pic>
      <p:sp>
        <p:nvSpPr>
          <p:cNvPr id="5" name="Text 2"/>
          <p:cNvSpPr txBox="1"/>
          <p:nvPr/>
        </p:nvSpPr>
        <p:spPr>
          <a:xfrm>
            <a:off x="1508760" y="1417320"/>
            <a:ext cx="4754880" cy="365760"/>
          </a:xfrm>
          <a:prstGeom prst="rect">
            <a:avLst/>
          </a:prstGeom>
          <a:noFill/>
          <a:ln/>
        </p:spPr>
        <p:txBody>
          <a:bodyPr wrap="square" lIns="0" tIns="0" rIns="0" bIns="0" rtlCol="0" anchor="t"/>
          <a:lstStyle/>
          <a:p>
            <a:pPr indent="0" marL="0">
              <a:buNone/>
            </a:pPr>
            <a:r>
              <a:rPr lang="en-US" sz="1900" b="1" dirty="0">
                <a:solidFill>
                  <a:schemeClr val="tx1"/>
                </a:solidFill>
              </a:rPr>
              <a:t>QUBO pair selection</a:t>
            </a:r>
            <a:endParaRPr lang="en-US" sz="1900" dirty="0"/>
          </a:p>
        </p:txBody>
      </p:sp>
      <p:sp>
        <p:nvSpPr>
          <p:cNvPr id="6" name="Text 3"/>
          <p:cNvSpPr txBox="1"/>
          <p:nvPr/>
        </p:nvSpPr>
        <p:spPr>
          <a:xfrm>
            <a:off x="1508760" y="1828800"/>
            <a:ext cx="4754880" cy="1005840"/>
          </a:xfrm>
          <a:prstGeom prst="rect">
            <a:avLst/>
          </a:prstGeom>
          <a:noFill/>
          <a:ln/>
        </p:spPr>
        <p:txBody>
          <a:bodyPr wrap="square" lIns="0" tIns="0" rIns="0" bIns="0" rtlCol="0" anchor="t"/>
          <a:lstStyle/>
          <a:p>
            <a:pPr indent="0" marL="0">
              <a:buNone/>
            </a:pPr>
            <a:r>
              <a:rPr lang="en-US" sz="1500" dirty="0">
                <a:solidFill>
                  <a:schemeClr val="tx1"/>
                </a:solidFill>
              </a:rPr>
              <a:t>Pick 48 non-redundant pairs from the 200 strongest: reward relevance, penalise pairs that share a SNP. Solved by simulated annealing.</a:t>
            </a:r>
            <a:endParaRPr lang="en-US" sz="1500" dirty="0"/>
          </a:p>
        </p:txBody>
      </p:sp>
      <p:sp>
        <p:nvSpPr>
          <p:cNvPr id="7" name="Quantum 2 circle"/>
          <p:cNvSpPr/>
          <p:nvPr/>
        </p:nvSpPr>
        <p:spPr>
          <a:xfrm>
            <a:off x="548640" y="3017520"/>
            <a:ext cx="731520" cy="731520"/>
          </a:xfrm>
          <a:prstGeom prst="ellipse">
            <a:avLst/>
          </a:prstGeom>
          <a:solidFill>
            <a:schemeClr val="accent2"/>
          </a:solidFill>
          <a:ln w="12700">
            <a:solidFill>
              <a:schemeClr val="accent2"/>
            </a:solidFill>
            <a:prstDash val="solid"/>
          </a:ln>
        </p:spPr>
      </p:sp>
      <p:pic>
        <p:nvPicPr>
          <p:cNvPr id="8" name="Quantum 2 icon" descr="Quantum 2 icon">    </p:cNvPr>
          <p:cNvPicPr>
            <a:picLocks noChangeAspect="1"/>
          </p:cNvPicPr>
          <p:nvPr/>
        </p:nvPicPr>
        <p:blipFill>
          <a:blip r:embed="rId2"/>
          <a:stretch>
            <a:fillRect/>
          </a:stretch>
        </p:blipFill>
        <p:spPr>
          <a:xfrm>
            <a:off x="724205" y="3193085"/>
            <a:ext cx="380390" cy="380390"/>
          </a:xfrm>
          <a:prstGeom prst="rect">
            <a:avLst/>
          </a:prstGeom>
        </p:spPr>
      </p:pic>
      <p:sp>
        <p:nvSpPr>
          <p:cNvPr id="9" name="Text 5"/>
          <p:cNvSpPr txBox="1"/>
          <p:nvPr/>
        </p:nvSpPr>
        <p:spPr>
          <a:xfrm>
            <a:off x="1508760" y="3017520"/>
            <a:ext cx="4754880" cy="365760"/>
          </a:xfrm>
          <a:prstGeom prst="rect">
            <a:avLst/>
          </a:prstGeom>
          <a:noFill/>
          <a:ln/>
        </p:spPr>
        <p:txBody>
          <a:bodyPr wrap="square" lIns="0" tIns="0" rIns="0" bIns="0" rtlCol="0" anchor="t"/>
          <a:lstStyle/>
          <a:p>
            <a:pPr indent="0" marL="0">
              <a:buNone/>
            </a:pPr>
            <a:r>
              <a:rPr lang="en-US" sz="1900" b="1" dirty="0">
                <a:solidFill>
                  <a:schemeClr val="tx1"/>
                </a:solidFill>
              </a:rPr>
              <a:t>QAOA</a:t>
            </a:r>
            <a:endParaRPr lang="en-US" sz="1900" dirty="0"/>
          </a:p>
        </p:txBody>
      </p:sp>
      <p:sp>
        <p:nvSpPr>
          <p:cNvPr id="10" name="Text 6"/>
          <p:cNvSpPr txBox="1"/>
          <p:nvPr/>
        </p:nvSpPr>
        <p:spPr>
          <a:xfrm>
            <a:off x="1508760" y="3429000"/>
            <a:ext cx="4754880" cy="1005840"/>
          </a:xfrm>
          <a:prstGeom prst="rect">
            <a:avLst/>
          </a:prstGeom>
          <a:noFill/>
          <a:ln/>
        </p:spPr>
        <p:txBody>
          <a:bodyPr wrap="square" lIns="0" tIns="0" rIns="0" bIns="0" rtlCol="0" anchor="t"/>
          <a:lstStyle/>
          <a:p>
            <a:pPr indent="0" marL="0">
              <a:buNone/>
            </a:pPr>
            <a:r>
              <a:rPr lang="en-US" sz="1500" dirty="0">
                <a:solidFill>
                  <a:schemeClr val="tx1"/>
                </a:solidFill>
              </a:rPr>
              <a:t>The same selection on a quantum circuit: a constraint-preserving XY mixer started from a Dicke state, tested on the IBM Kingston noise model with error mitigation.</a:t>
            </a:r>
            <a:endParaRPr lang="en-US" sz="1500" dirty="0"/>
          </a:p>
        </p:txBody>
      </p:sp>
      <p:sp>
        <p:nvSpPr>
          <p:cNvPr id="11" name="Quantum 3 circle"/>
          <p:cNvSpPr/>
          <p:nvPr/>
        </p:nvSpPr>
        <p:spPr>
          <a:xfrm>
            <a:off x="548640" y="4617720"/>
            <a:ext cx="731520" cy="731520"/>
          </a:xfrm>
          <a:prstGeom prst="ellipse">
            <a:avLst/>
          </a:prstGeom>
          <a:solidFill>
            <a:schemeClr val="accent2"/>
          </a:solidFill>
          <a:ln w="12700">
            <a:solidFill>
              <a:schemeClr val="accent2"/>
            </a:solidFill>
            <a:prstDash val="solid"/>
          </a:ln>
        </p:spPr>
      </p:sp>
      <p:pic>
        <p:nvPicPr>
          <p:cNvPr id="12" name="Quantum 3 icon" descr="Quantum 3 icon">    </p:cNvPr>
          <p:cNvPicPr>
            <a:picLocks noChangeAspect="1"/>
          </p:cNvPicPr>
          <p:nvPr/>
        </p:nvPicPr>
        <p:blipFill>
          <a:blip r:embed="rId3"/>
          <a:stretch>
            <a:fillRect/>
          </a:stretch>
        </p:blipFill>
        <p:spPr>
          <a:xfrm>
            <a:off x="724205" y="4793285"/>
            <a:ext cx="380390" cy="380390"/>
          </a:xfrm>
          <a:prstGeom prst="rect">
            <a:avLst/>
          </a:prstGeom>
        </p:spPr>
      </p:pic>
      <p:sp>
        <p:nvSpPr>
          <p:cNvPr id="13" name="Text 8"/>
          <p:cNvSpPr txBox="1"/>
          <p:nvPr/>
        </p:nvSpPr>
        <p:spPr>
          <a:xfrm>
            <a:off x="1508760" y="4617720"/>
            <a:ext cx="4754880" cy="365760"/>
          </a:xfrm>
          <a:prstGeom prst="rect">
            <a:avLst/>
          </a:prstGeom>
          <a:noFill/>
          <a:ln/>
        </p:spPr>
        <p:txBody>
          <a:bodyPr wrap="square" lIns="0" tIns="0" rIns="0" bIns="0" rtlCol="0" anchor="t"/>
          <a:lstStyle/>
          <a:p>
            <a:pPr indent="0" marL="0">
              <a:buNone/>
            </a:pPr>
            <a:r>
              <a:rPr lang="en-US" sz="1900" b="1" dirty="0">
                <a:solidFill>
                  <a:schemeClr val="tx1"/>
                </a:solidFill>
              </a:rPr>
              <a:t>Variational pair encoder</a:t>
            </a:r>
            <a:endParaRPr lang="en-US" sz="1900" dirty="0"/>
          </a:p>
        </p:txBody>
      </p:sp>
      <p:sp>
        <p:nvSpPr>
          <p:cNvPr id="14" name="Text 9"/>
          <p:cNvSpPr txBox="1"/>
          <p:nvPr/>
        </p:nvSpPr>
        <p:spPr>
          <a:xfrm>
            <a:off x="1508760" y="5029200"/>
            <a:ext cx="4754880" cy="1005840"/>
          </a:xfrm>
          <a:prstGeom prst="rect">
            <a:avLst/>
          </a:prstGeom>
          <a:noFill/>
          <a:ln/>
        </p:spPr>
        <p:txBody>
          <a:bodyPr wrap="square" lIns="0" tIns="0" rIns="0" bIns="0" rtlCol="0" anchor="t"/>
          <a:lstStyle/>
          <a:p>
            <a:pPr indent="0" marL="0">
              <a:buNone/>
            </a:pPr>
            <a:r>
              <a:rPr lang="en-US" sz="1500" dirty="0">
                <a:solidFill>
                  <a:schemeClr val="tx1"/>
                </a:solidFill>
              </a:rPr>
              <a:t>8 qubits, 4 layers, 64 shared angles: 12 circuits turn the 48 pairs into 96 features for the model.</a:t>
            </a:r>
            <a:endParaRPr lang="en-US" sz="1500" dirty="0"/>
          </a:p>
        </p:txBody>
      </p:sp>
      <p:pic>
        <p:nvPicPr>
          <p:cNvPr id="15" name="Circuit diagram" descr="Eight-qubit pair encoder circuit: angle embedding, RY and RZ rotations, CZ gates, Z measurements">    </p:cNvPr>
          <p:cNvPicPr>
            <a:picLocks noChangeAspect="1"/>
          </p:cNvPicPr>
          <p:nvPr/>
        </p:nvPicPr>
        <p:blipFill>
          <a:blip r:embed="rId4"/>
          <a:stretch>
            <a:fillRect/>
          </a:stretch>
        </p:blipFill>
        <p:spPr>
          <a:xfrm>
            <a:off x="6583680" y="1463040"/>
            <a:ext cx="5029200" cy="3505200"/>
          </a:xfrm>
          <a:prstGeom prst="rect">
            <a:avLst/>
          </a:prstGeom>
        </p:spPr>
      </p:pic>
      <p:sp>
        <p:nvSpPr>
          <p:cNvPr id="16" name="Text 10"/>
          <p:cNvSpPr txBox="1"/>
          <p:nvPr/>
        </p:nvSpPr>
        <p:spPr>
          <a:xfrm>
            <a:off x="6583680" y="5074920"/>
            <a:ext cx="5029200" cy="457200"/>
          </a:xfrm>
          <a:prstGeom prst="rect">
            <a:avLst/>
          </a:prstGeom>
          <a:noFill/>
          <a:ln/>
        </p:spPr>
        <p:txBody>
          <a:bodyPr wrap="square" lIns="0" tIns="0" rIns="0" bIns="0" rtlCol="0" anchor="t"/>
          <a:lstStyle/>
          <a:p>
            <a:pPr indent="0" marL="0">
              <a:buNone/>
            </a:pPr>
            <a:r>
              <a:rPr lang="en-US" sz="1100" i="1" dirty="0">
                <a:solidFill>
                  <a:srgbClr val="586A72"/>
                </a:solidFill>
              </a:rPr>
              <a:t>The pair encoder, two of its four layers: data rotations, trainable RY/RZ, a chain of CZ gates</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Genetics adds to clinical screening</a:t>
            </a:r>
            <a:endParaRPr lang="en-US" sz="3600" dirty="0"/>
          </a:p>
        </p:txBody>
      </p:sp>
      <p:graphicFrame>
        <p:nvGraphicFramePr>
          <p:cNvPr id="3" name="Chart 0" descr=""/>
          <p:cNvGraphicFramePr/>
          <p:nvPr/>
        </p:nvGraphicFramePr>
        <p:xfrm>
          <a:off x="548640" y="1280160"/>
          <a:ext cx="694944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001000" y="1463040"/>
            <a:ext cx="3639312" cy="1005840"/>
          </a:xfrm>
          <a:prstGeom prst="rect">
            <a:avLst/>
          </a:prstGeom>
          <a:noFill/>
          <a:ln/>
        </p:spPr>
        <p:txBody>
          <a:bodyPr wrap="square" lIns="0" tIns="0" rIns="0" bIns="0" rtlCol="0" anchor="b"/>
          <a:lstStyle/>
          <a:p>
            <a:pPr indent="0" marL="0">
              <a:buNone/>
            </a:pPr>
            <a:r>
              <a:rPr lang="en-US" sz="5400" b="1" dirty="0">
                <a:solidFill>
                  <a:schemeClr val="accent1"/>
                </a:solidFill>
                <a:latin typeface="+mj-lt" pitchFamily="34" charset="0"/>
                <a:ea typeface="+mj-lt" pitchFamily="34" charset="-122"/>
                <a:cs typeface="+mj-lt" pitchFamily="34" charset="-120"/>
              </a:rPr>
              <a:t>+0.063</a:t>
            </a:r>
            <a:endParaRPr lang="en-US" sz="5400" dirty="0"/>
          </a:p>
        </p:txBody>
      </p:sp>
      <p:sp>
        <p:nvSpPr>
          <p:cNvPr id="5" name="Text 2"/>
          <p:cNvSpPr txBox="1"/>
          <p:nvPr/>
        </p:nvSpPr>
        <p:spPr>
          <a:xfrm>
            <a:off x="8001000" y="2514600"/>
            <a:ext cx="3639312" cy="731520"/>
          </a:xfrm>
          <a:prstGeom prst="rect">
            <a:avLst/>
          </a:prstGeom>
          <a:noFill/>
          <a:ln/>
        </p:spPr>
        <p:txBody>
          <a:bodyPr wrap="square" lIns="0" tIns="0" rIns="0" bIns="0" rtlCol="0" anchor="t"/>
          <a:lstStyle/>
          <a:p>
            <a:pPr indent="0" marL="0">
              <a:buNone/>
            </a:pPr>
            <a:r>
              <a:rPr lang="en-US" sz="1700" dirty="0">
                <a:solidFill>
                  <a:schemeClr val="tx1"/>
                </a:solidFill>
              </a:rPr>
              <a:t>AUC from genetics on top of all clinical factors</a:t>
            </a:r>
            <a:endParaRPr lang="en-US" sz="1700" dirty="0"/>
          </a:p>
        </p:txBody>
      </p:sp>
      <p:sp>
        <p:nvSpPr>
          <p:cNvPr id="6" name="Text 3"/>
          <p:cNvSpPr txBox="1"/>
          <p:nvPr/>
        </p:nvSpPr>
        <p:spPr>
          <a:xfrm>
            <a:off x="8001000" y="3291840"/>
            <a:ext cx="3639312" cy="365760"/>
          </a:xfrm>
          <a:prstGeom prst="rect">
            <a:avLst/>
          </a:prstGeom>
          <a:noFill/>
          <a:ln/>
        </p:spPr>
        <p:txBody>
          <a:bodyPr wrap="square" lIns="0" tIns="0" rIns="0" bIns="0" rtlCol="0" anchor="t"/>
          <a:lstStyle/>
          <a:p>
            <a:pPr indent="0" marL="0">
              <a:buNone/>
            </a:pPr>
            <a:r>
              <a:rPr lang="en-US" sz="1400" dirty="0">
                <a:solidFill>
                  <a:srgbClr val="586A72"/>
                </a:solidFill>
              </a:rPr>
              <a:t>DeLong p ≤ 4×10⁻⁶ in every seed</a:t>
            </a:r>
            <a:endParaRPr lang="en-US" sz="1400" dirty="0"/>
          </a:p>
        </p:txBody>
      </p:sp>
      <p:sp>
        <p:nvSpPr>
          <p:cNvPr id="7" name="Text 4"/>
          <p:cNvSpPr txBox="1"/>
          <p:nvPr/>
        </p:nvSpPr>
        <p:spPr>
          <a:xfrm>
            <a:off x="8001000" y="4023360"/>
            <a:ext cx="3639312" cy="640080"/>
          </a:xfrm>
          <a:prstGeom prst="rect">
            <a:avLst/>
          </a:prstGeom>
          <a:noFill/>
          <a:ln/>
        </p:spPr>
        <p:txBody>
          <a:bodyPr wrap="square" lIns="0" tIns="0" rIns="0" bIns="0" rtlCol="0" anchor="b"/>
          <a:lstStyle/>
          <a:p>
            <a:pPr indent="0" marL="0">
              <a:buNone/>
            </a:pPr>
            <a:r>
              <a:rPr lang="en-US" sz="3000" b="1" dirty="0">
                <a:solidFill>
                  <a:schemeClr val="accent2"/>
                </a:solidFill>
                <a:latin typeface="+mj-lt" pitchFamily="34" charset="0"/>
                <a:ea typeface="+mj-lt" pitchFamily="34" charset="-122"/>
                <a:cs typeface="+mj-lt" pitchFamily="34" charset="-120"/>
              </a:rPr>
              <a:t>0.866–0.871</a:t>
            </a:r>
            <a:endParaRPr lang="en-US" sz="3000" dirty="0"/>
          </a:p>
        </p:txBody>
      </p:sp>
      <p:sp>
        <p:nvSpPr>
          <p:cNvPr id="8" name="Text 5"/>
          <p:cNvSpPr txBox="1"/>
          <p:nvPr/>
        </p:nvSpPr>
        <p:spPr>
          <a:xfrm>
            <a:off x="8001000" y="4709160"/>
            <a:ext cx="3639312" cy="731520"/>
          </a:xfrm>
          <a:prstGeom prst="rect">
            <a:avLst/>
          </a:prstGeom>
          <a:noFill/>
          <a:ln/>
        </p:spPr>
        <p:txBody>
          <a:bodyPr wrap="square" lIns="0" tIns="0" rIns="0" bIns="0" rtlCol="0" anchor="t"/>
          <a:lstStyle/>
          <a:p>
            <a:pPr indent="0" marL="0">
              <a:buNone/>
            </a:pPr>
            <a:r>
              <a:rPr lang="en-US" sz="1500" dirty="0">
                <a:solidFill>
                  <a:schemeClr val="tx1"/>
                </a:solidFill>
              </a:rPr>
              <a:t>AUC of the quantum variants: no significant gain over classical</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Genes find the lean cases screening misses</a:t>
            </a:r>
            <a:endParaRPr lang="en-US" sz="3600" dirty="0"/>
          </a:p>
        </p:txBody>
      </p:sp>
      <p:sp>
        <p:nvSpPr>
          <p:cNvPr id="3" name="Lean headline card"/>
          <p:cNvSpPr/>
          <p:nvPr/>
        </p:nvSpPr>
        <p:spPr>
          <a:xfrm>
            <a:off x="548640" y="1417320"/>
            <a:ext cx="4160520" cy="4526280"/>
          </a:xfrm>
          <a:prstGeom prst="roundRect">
            <a:avLst>
              <a:gd name="adj" fmla="val 2637"/>
            </a:avLst>
          </a:prstGeom>
          <a:solidFill>
            <a:schemeClr val="bg2"/>
          </a:solidFill>
          <a:ln w="12700">
            <a:solidFill>
              <a:schemeClr val="bg2"/>
            </a:solidFill>
            <a:prstDash val="solid"/>
          </a:ln>
        </p:spPr>
      </p:sp>
      <p:sp>
        <p:nvSpPr>
          <p:cNvPr id="4" name="Text 2"/>
          <p:cNvSpPr txBox="1"/>
          <p:nvPr/>
        </p:nvSpPr>
        <p:spPr>
          <a:xfrm>
            <a:off x="868680" y="1737360"/>
            <a:ext cx="3657600" cy="1005840"/>
          </a:xfrm>
          <a:prstGeom prst="rect">
            <a:avLst/>
          </a:prstGeom>
          <a:noFill/>
          <a:ln/>
        </p:spPr>
        <p:txBody>
          <a:bodyPr wrap="square" lIns="0" tIns="0" rIns="0" bIns="0" rtlCol="0" anchor="b"/>
          <a:lstStyle/>
          <a:p>
            <a:pPr indent="0" marL="0">
              <a:buNone/>
            </a:pPr>
            <a:r>
              <a:rPr lang="en-US" sz="5400" b="1" dirty="0">
                <a:solidFill>
                  <a:schemeClr val="accent1"/>
                </a:solidFill>
                <a:latin typeface="+mj-lt" pitchFamily="34" charset="0"/>
                <a:ea typeface="+mj-lt" pitchFamily="34" charset="-122"/>
                <a:cs typeface="+mj-lt" pitchFamily="34" charset="-120"/>
              </a:rPr>
              <a:t>30% </a:t>
            </a:r>
            <a:pPr indent="0" marL="0">
              <a:buNone/>
            </a:pPr>
            <a:r>
              <a:rPr lang="en-US" sz="4300" b="1" dirty="0">
                <a:solidFill>
                  <a:schemeClr val="accent1"/>
                </a:solidFill>
                <a:latin typeface="+mn-lt" pitchFamily="34" charset="0"/>
                <a:ea typeface="+mn-lt" pitchFamily="34" charset="-122"/>
                <a:cs typeface="+mn-lt" pitchFamily="34" charset="-120"/>
              </a:rPr>
              <a:t>→</a:t>
            </a:r>
            <a:pPr indent="0" marL="0">
              <a:buNone/>
            </a:pPr>
            <a:r>
              <a:rPr lang="en-US" sz="5400" b="1" dirty="0">
                <a:solidFill>
                  <a:schemeClr val="accent1"/>
                </a:solidFill>
                <a:latin typeface="+mj-lt" pitchFamily="34" charset="0"/>
                <a:ea typeface="+mj-lt" pitchFamily="34" charset="-122"/>
                <a:cs typeface="+mj-lt" pitchFamily="34" charset="-120"/>
              </a:rPr>
              <a:t> 58%</a:t>
            </a:r>
            <a:endParaRPr lang="en-US" sz="5400" dirty="0"/>
          </a:p>
        </p:txBody>
      </p:sp>
      <p:sp>
        <p:nvSpPr>
          <p:cNvPr id="5" name="Text 3"/>
          <p:cNvSpPr txBox="1"/>
          <p:nvPr/>
        </p:nvSpPr>
        <p:spPr>
          <a:xfrm>
            <a:off x="868680" y="2880360"/>
            <a:ext cx="3566160" cy="1280160"/>
          </a:xfrm>
          <a:prstGeom prst="rect">
            <a:avLst/>
          </a:prstGeom>
          <a:noFill/>
          <a:ln/>
        </p:spPr>
        <p:txBody>
          <a:bodyPr wrap="square" lIns="0" tIns="0" rIns="0" bIns="0" rtlCol="0" anchor="t"/>
          <a:lstStyle/>
          <a:p>
            <a:pPr indent="0" marL="0">
              <a:buNone/>
            </a:pPr>
            <a:r>
              <a:rPr lang="en-US" sz="1700" dirty="0">
                <a:solidFill>
                  <a:schemeClr val="tx1"/>
                </a:solidFill>
              </a:rPr>
              <a:t>of lean diabetes cases (BMI &lt; 23) caught in the top 20% of risk: IDRS questionnaire → with genetics</a:t>
            </a:r>
            <a:endParaRPr lang="en-US" sz="1700" dirty="0"/>
          </a:p>
        </p:txBody>
      </p:sp>
      <p:sp>
        <p:nvSpPr>
          <p:cNvPr id="6" name="Text 4"/>
          <p:cNvSpPr txBox="1"/>
          <p:nvPr/>
        </p:nvSpPr>
        <p:spPr>
          <a:xfrm>
            <a:off x="868680" y="4343400"/>
            <a:ext cx="3566160" cy="731520"/>
          </a:xfrm>
          <a:prstGeom prst="rect">
            <a:avLst/>
          </a:prstGeom>
          <a:noFill/>
          <a:ln/>
        </p:spPr>
        <p:txBody>
          <a:bodyPr wrap="square" lIns="0" tIns="0" rIns="0" bIns="0" rtlCol="0" anchor="t"/>
          <a:lstStyle/>
          <a:p>
            <a:pPr indent="0" marL="0">
              <a:buNone/>
            </a:pPr>
            <a:r>
              <a:rPr lang="en-US" sz="1500" i="1" dirty="0">
                <a:solidFill>
                  <a:srgbClr val="586A72"/>
                </a:solidFill>
              </a:rPr>
              <a:t>A BMI rule catches none of them by construction.</a:t>
            </a:r>
            <a:endParaRPr lang="en-US" sz="1500" dirty="0"/>
          </a:p>
        </p:txBody>
      </p:sp>
      <p:graphicFrame>
        <p:nvGraphicFramePr>
          <p:cNvPr id="7" name="Chart 0" descr=""/>
          <p:cNvGraphicFramePr/>
          <p:nvPr/>
        </p:nvGraphicFramePr>
        <p:xfrm>
          <a:off x="5074920" y="1280160"/>
          <a:ext cx="6565392" cy="47548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The search finds the planted gene pairs</a:t>
            </a:r>
            <a:endParaRPr lang="en-US" sz="3600" dirty="0"/>
          </a:p>
        </p:txBody>
      </p:sp>
      <p:graphicFrame>
        <p:nvGraphicFramePr>
          <p:cNvPr id="3" name="Chart 0" descr=""/>
          <p:cNvGraphicFramePr/>
          <p:nvPr/>
        </p:nvGraphicFramePr>
        <p:xfrm>
          <a:off x="548640" y="1280160"/>
          <a:ext cx="649224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52360" y="1325880"/>
            <a:ext cx="4187952" cy="701040"/>
          </a:xfrm>
          <a:prstGeom prst="rect">
            <a:avLst/>
          </a:prstGeom>
          <a:noFill/>
          <a:ln/>
        </p:spPr>
        <p:txBody>
          <a:bodyPr wrap="square" lIns="0" tIns="0" rIns="0" bIns="0" rtlCol="0" anchor="b"/>
          <a:lstStyle/>
          <a:p>
            <a:pPr indent="0" marL="0">
              <a:buNone/>
            </a:pPr>
            <a:r>
              <a:rPr lang="en-US" sz="3400" b="1" dirty="0">
                <a:solidFill>
                  <a:schemeClr val="accent1"/>
                </a:solidFill>
                <a:latin typeface="+mj-lt" pitchFamily="34" charset="0"/>
                <a:ea typeface="+mj-lt" pitchFamily="34" charset="-122"/>
                <a:cs typeface="+mj-lt" pitchFamily="34" charset="-120"/>
              </a:rPr>
              <a:t>70–84%</a:t>
            </a:r>
            <a:endParaRPr lang="en-US" sz="3400" dirty="0"/>
          </a:p>
        </p:txBody>
      </p:sp>
      <p:sp>
        <p:nvSpPr>
          <p:cNvPr id="5" name="Text 2"/>
          <p:cNvSpPr txBox="1"/>
          <p:nvPr/>
        </p:nvSpPr>
        <p:spPr>
          <a:xfrm>
            <a:off x="7452360" y="2072640"/>
            <a:ext cx="4187952" cy="731520"/>
          </a:xfrm>
          <a:prstGeom prst="rect">
            <a:avLst/>
          </a:prstGeom>
          <a:noFill/>
          <a:ln/>
        </p:spPr>
        <p:txBody>
          <a:bodyPr wrap="square" lIns="0" tIns="0" rIns="0" bIns="0" rtlCol="0" anchor="t"/>
          <a:lstStyle/>
          <a:p>
            <a:pPr indent="0" marL="0">
              <a:buNone/>
            </a:pPr>
            <a:r>
              <a:rPr lang="en-US" sz="1500" dirty="0">
                <a:solidFill>
                  <a:schemeClr val="tx1"/>
                </a:solidFill>
              </a:rPr>
              <a:t>of planted pairs in the top 10 at 10,000 people; PLINK BOOST finds 40–48%</a:t>
            </a:r>
            <a:endParaRPr lang="en-US" sz="1500" dirty="0"/>
          </a:p>
        </p:txBody>
      </p:sp>
      <p:sp>
        <p:nvSpPr>
          <p:cNvPr id="6" name="Text 3"/>
          <p:cNvSpPr txBox="1"/>
          <p:nvPr/>
        </p:nvSpPr>
        <p:spPr>
          <a:xfrm>
            <a:off x="7452360" y="2926080"/>
            <a:ext cx="4187952" cy="701040"/>
          </a:xfrm>
          <a:prstGeom prst="rect">
            <a:avLst/>
          </a:prstGeom>
          <a:noFill/>
          <a:ln/>
        </p:spPr>
        <p:txBody>
          <a:bodyPr wrap="square" lIns="0" tIns="0" rIns="0" bIns="0" rtlCol="0" anchor="b"/>
          <a:lstStyle/>
          <a:p>
            <a:pPr indent="0" marL="0">
              <a:buNone/>
            </a:pPr>
            <a:r>
              <a:rPr lang="en-US" sz="3400" b="1" dirty="0">
                <a:solidFill>
                  <a:schemeClr val="accent1"/>
                </a:solidFill>
                <a:latin typeface="+mj-lt" pitchFamily="34" charset="0"/>
                <a:ea typeface="+mj-lt" pitchFamily="34" charset="-122"/>
                <a:cs typeface="+mj-lt" pitchFamily="34" charset="-120"/>
              </a:rPr>
              <a:t>18 of 20</a:t>
            </a:r>
            <a:endParaRPr lang="en-US" sz="3400" dirty="0"/>
          </a:p>
        </p:txBody>
      </p:sp>
      <p:sp>
        <p:nvSpPr>
          <p:cNvPr id="7" name="Text 4"/>
          <p:cNvSpPr txBox="1"/>
          <p:nvPr/>
        </p:nvSpPr>
        <p:spPr>
          <a:xfrm>
            <a:off x="7452360" y="3672840"/>
            <a:ext cx="4187952" cy="731520"/>
          </a:xfrm>
          <a:prstGeom prst="rect">
            <a:avLst/>
          </a:prstGeom>
          <a:noFill/>
          <a:ln/>
        </p:spPr>
        <p:txBody>
          <a:bodyPr wrap="square" lIns="0" tIns="0" rIns="0" bIns="0" rtlCol="0" anchor="t"/>
          <a:lstStyle/>
          <a:p>
            <a:pPr indent="0" marL="0">
              <a:buNone/>
            </a:pPr>
            <a:r>
              <a:rPr lang="en-US" sz="1500" dirty="0">
                <a:solidFill>
                  <a:schemeClr val="tx1"/>
                </a:solidFill>
              </a:rPr>
              <a:t>runs with no true interaction report nothing (λ = 1.05)</a:t>
            </a:r>
            <a:endParaRPr lang="en-US" sz="1500" dirty="0"/>
          </a:p>
        </p:txBody>
      </p:sp>
      <p:sp>
        <p:nvSpPr>
          <p:cNvPr id="8" name="Text 5"/>
          <p:cNvSpPr txBox="1"/>
          <p:nvPr/>
        </p:nvSpPr>
        <p:spPr>
          <a:xfrm>
            <a:off x="7452360" y="4526280"/>
            <a:ext cx="4187952" cy="701040"/>
          </a:xfrm>
          <a:prstGeom prst="rect">
            <a:avLst/>
          </a:prstGeom>
          <a:noFill/>
          <a:ln/>
        </p:spPr>
        <p:txBody>
          <a:bodyPr wrap="square" lIns="0" tIns="0" rIns="0" bIns="0" rtlCol="0" anchor="b"/>
          <a:lstStyle/>
          <a:p>
            <a:pPr indent="0" marL="0">
              <a:buNone/>
            </a:pPr>
            <a:r>
              <a:rPr lang="en-US" sz="3400" b="1" dirty="0">
                <a:solidFill>
                  <a:schemeClr val="accent1"/>
                </a:solidFill>
                <a:latin typeface="+mj-lt" pitchFamily="34" charset="0"/>
                <a:ea typeface="+mj-lt" pitchFamily="34" charset="-122"/>
                <a:cs typeface="+mj-lt" pitchFamily="34" charset="-120"/>
              </a:rPr>
              <a:t>62 vs 49</a:t>
            </a:r>
            <a:endParaRPr lang="en-US" sz="3400" dirty="0"/>
          </a:p>
        </p:txBody>
      </p:sp>
      <p:sp>
        <p:nvSpPr>
          <p:cNvPr id="9" name="Text 6"/>
          <p:cNvSpPr txBox="1"/>
          <p:nvPr/>
        </p:nvSpPr>
        <p:spPr>
          <a:xfrm>
            <a:off x="7452360" y="5273040"/>
            <a:ext cx="4187952" cy="731520"/>
          </a:xfrm>
          <a:prstGeom prst="rect">
            <a:avLst/>
          </a:prstGeom>
          <a:noFill/>
          <a:ln/>
        </p:spPr>
        <p:txBody>
          <a:bodyPr wrap="square" lIns="0" tIns="0" rIns="0" bIns="0" rtlCol="0" anchor="t"/>
          <a:lstStyle/>
          <a:p>
            <a:pPr indent="0" marL="0">
              <a:buNone/>
            </a:pPr>
            <a:r>
              <a:rPr lang="en-US" sz="1500" dirty="0">
                <a:solidFill>
                  <a:schemeClr val="tx1"/>
                </a:solidFill>
              </a:rPr>
              <a:t>distinct SNPs covered by QUBO vs top-K, with 26% fewer redundant pairs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Quantum results, measured honestly</a:t>
            </a:r>
            <a:endParaRPr lang="en-US" sz="3600" dirty="0"/>
          </a:p>
        </p:txBody>
      </p:sp>
      <p:graphicFrame>
        <p:nvGraphicFramePr>
          <p:cNvPr id="3" name="Chart 0" descr=""/>
          <p:cNvGraphicFramePr/>
          <p:nvPr/>
        </p:nvGraphicFramePr>
        <p:xfrm>
          <a:off x="548640" y="1280160"/>
          <a:ext cx="6492240" cy="4754880"/>
        </p:xfrm>
        <a:graphic xmlns:a="http://schemas.openxmlformats.org/drawingml/2006/main">
          <a:graphicData uri="http://schemas.openxmlformats.org/drawingml/2006/chart">
            <c:chart xmlns:c="http://schemas.openxmlformats.org/drawingml/2006/chart" r:id="rId1"/>
          </a:graphicData>
        </a:graphic>
      </p:graphicFrame>
      <p:sp>
        <p:nvSpPr>
          <p:cNvPr id="4" name="Quantum findings card"/>
          <p:cNvSpPr/>
          <p:nvPr/>
        </p:nvSpPr>
        <p:spPr>
          <a:xfrm>
            <a:off x="7315200" y="1417320"/>
            <a:ext cx="4325112" cy="4572000"/>
          </a:xfrm>
          <a:prstGeom prst="roundRect">
            <a:avLst>
              <a:gd name="adj" fmla="val 2537"/>
            </a:avLst>
          </a:prstGeom>
          <a:solidFill>
            <a:schemeClr val="bg2"/>
          </a:solidFill>
          <a:ln w="12700">
            <a:solidFill>
              <a:schemeClr val="bg2"/>
            </a:solidFill>
            <a:prstDash val="solid"/>
          </a:ln>
        </p:spPr>
      </p:sp>
      <p:sp>
        <p:nvSpPr>
          <p:cNvPr id="5" name="Text 2"/>
          <p:cNvSpPr txBox="1"/>
          <p:nvPr/>
        </p:nvSpPr>
        <p:spPr>
          <a:xfrm>
            <a:off x="7589520" y="1645920"/>
            <a:ext cx="3794760" cy="4114800"/>
          </a:xfrm>
          <a:prstGeom prst="rect">
            <a:avLst/>
          </a:prstGeom>
          <a:noFill/>
          <a:ln/>
        </p:spPr>
        <p:txBody>
          <a:bodyPr wrap="square" lIns="0" tIns="0" rIns="0" bIns="0" rtlCol="0" anchor="ctr"/>
          <a:lstStyle/>
          <a:p>
            <a:pPr marL="342900" indent="-342900">
              <a:spcAft>
                <a:spcPts val="1200"/>
              </a:spcAft>
              <a:buSzPct val="100000"/>
              <a:buChar char="•"/>
            </a:pPr>
            <a:r>
              <a:rPr lang="en-US" sz="1600" dirty="0">
                <a:solidFill>
                  <a:schemeClr val="tx1"/>
                </a:solidFill>
              </a:rPr>
              <a:t>Entanglement adds nothing: 0.866 with it, 0.871 without, 0.870 for a classical twin.</a:t>
            </a:r>
            <a:endParaRPr lang="en-US" sz="1600" dirty="0"/>
          </a:p>
          <a:p>
            <a:pPr marL="342900" indent="-342900">
              <a:spcAft>
                <a:spcPts val="1200"/>
              </a:spcAft>
              <a:buSzPct val="100000"/>
              <a:buChar char="•"/>
            </a:pPr>
            <a:r>
              <a:rPr lang="en-US" sz="1600" dirty="0">
                <a:solidFill>
                  <a:schemeClr val="tx1"/>
                </a:solidFill>
              </a:rPr>
              <a:t>On an ideal simulator the XY mixer beats textbook QAOA (0.76 vs 0.30 at depth 1).</a:t>
            </a:r>
            <a:endParaRPr lang="en-US" sz="1600" dirty="0"/>
          </a:p>
          <a:p>
            <a:pPr marL="342900" indent="-342900">
              <a:spcAft>
                <a:spcPts val="1200"/>
              </a:spcAft>
              <a:buSzPct val="100000"/>
              <a:buChar char="•"/>
            </a:pPr>
            <a:r>
              <a:rPr lang="en-US" sz="1600" dirty="0">
                <a:solidFill>
                  <a:schemeClr val="tx1"/>
                </a:solidFill>
              </a:rPr>
              <a:t>Hardware noise drops both to about 0.3; mitigation brings the XY circuit back to 0.75 (noise-free 0.76, random choice 0.68).</a:t>
            </a:r>
            <a:endParaRPr lang="en-US" sz="1600" dirty="0"/>
          </a:p>
          <a:p>
            <a:pPr marL="342900" indent="-342900">
              <a:spcAft>
                <a:spcPts val="1200"/>
              </a:spcAft>
              <a:buSzPct val="100000"/>
              <a:buChar char="•"/>
            </a:pPr>
            <a:r>
              <a:rPr lang="en-US" sz="1600" dirty="0">
                <a:solidFill>
                  <a:schemeClr val="tx1"/>
                </a:solidFill>
              </a:rPr>
              <a:t>No speed-up is claimed: an 8-qubit circuit can be simulated exactly.</a:t>
            </a:r>
            <a:endParaRPr lang="en-US" sz="16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Fair across groups, robust to assumptions</a:t>
            </a:r>
            <a:endParaRPr lang="en-US" sz="3600" dirty="0"/>
          </a:p>
        </p:txBody>
      </p:sp>
      <p:graphicFrame>
        <p:nvGraphicFramePr>
          <p:cNvPr id="3" name="Chart 0" descr=""/>
          <p:cNvGraphicFramePr/>
          <p:nvPr/>
        </p:nvGraphicFramePr>
        <p:xfrm>
          <a:off x="548640" y="1280160"/>
          <a:ext cx="704088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8001000" y="1325880"/>
            <a:ext cx="3639312" cy="914400"/>
          </a:xfrm>
          <a:prstGeom prst="rect">
            <a:avLst/>
          </a:prstGeom>
          <a:noFill/>
          <a:ln/>
        </p:spPr>
        <p:txBody>
          <a:bodyPr wrap="square" lIns="0" tIns="0" rIns="0" bIns="0" rtlCol="0" anchor="b"/>
          <a:lstStyle/>
          <a:p>
            <a:pPr indent="0" marL="0">
              <a:buNone/>
            </a:pPr>
            <a:r>
              <a:rPr lang="en-US" sz="4800" b="1" dirty="0">
                <a:solidFill>
                  <a:schemeClr val="accent1"/>
                </a:solidFill>
                <a:latin typeface="+mj-lt" pitchFamily="34" charset="0"/>
                <a:ea typeface="+mj-lt" pitchFamily="34" charset="-122"/>
                <a:cs typeface="+mj-lt" pitchFamily="34" charset="-120"/>
              </a:rPr>
              <a:t>13 / 13</a:t>
            </a:r>
            <a:endParaRPr lang="en-US" sz="4800" dirty="0"/>
          </a:p>
        </p:txBody>
      </p:sp>
      <p:sp>
        <p:nvSpPr>
          <p:cNvPr id="5" name="Text 2"/>
          <p:cNvSpPr txBox="1"/>
          <p:nvPr/>
        </p:nvSpPr>
        <p:spPr>
          <a:xfrm>
            <a:off x="8001000" y="2286000"/>
            <a:ext cx="3639312" cy="731520"/>
          </a:xfrm>
          <a:prstGeom prst="rect">
            <a:avLst/>
          </a:prstGeom>
          <a:noFill/>
          <a:ln/>
        </p:spPr>
        <p:txBody>
          <a:bodyPr wrap="square" lIns="0" tIns="0" rIns="0" bIns="0" rtlCol="0" anchor="t"/>
          <a:lstStyle/>
          <a:p>
            <a:pPr indent="0" marL="0">
              <a:buNone/>
            </a:pPr>
            <a:r>
              <a:rPr lang="en-US" sz="1500" dirty="0">
                <a:solidFill>
                  <a:schemeClr val="tx1"/>
                </a:solidFill>
              </a:rPr>
              <a:t>simulator settings where genetics beats clinical factors</a:t>
            </a:r>
            <a:endParaRPr lang="en-US" sz="1500" dirty="0"/>
          </a:p>
        </p:txBody>
      </p:sp>
      <p:sp>
        <p:nvSpPr>
          <p:cNvPr id="6" name="Text 3"/>
          <p:cNvSpPr txBox="1"/>
          <p:nvPr/>
        </p:nvSpPr>
        <p:spPr>
          <a:xfrm>
            <a:off x="8001000" y="2880360"/>
            <a:ext cx="3639312" cy="914400"/>
          </a:xfrm>
          <a:prstGeom prst="rect">
            <a:avLst/>
          </a:prstGeom>
          <a:noFill/>
          <a:ln/>
        </p:spPr>
        <p:txBody>
          <a:bodyPr wrap="square" lIns="0" tIns="0" rIns="0" bIns="0" rtlCol="0" anchor="b"/>
          <a:lstStyle/>
          <a:p>
            <a:pPr indent="0" marL="0">
              <a:buNone/>
            </a:pPr>
            <a:r>
              <a:rPr lang="en-US" sz="4800" b="1" dirty="0">
                <a:solidFill>
                  <a:schemeClr val="accent1"/>
                </a:solidFill>
                <a:latin typeface="+mj-lt" pitchFamily="34" charset="0"/>
                <a:ea typeface="+mj-lt" pitchFamily="34" charset="-122"/>
                <a:cs typeface="+mj-lt" pitchFamily="34" charset="-120"/>
              </a:rPr>
              <a:t>13 / 13</a:t>
            </a:r>
            <a:endParaRPr lang="en-US" sz="4800" dirty="0"/>
          </a:p>
        </p:txBody>
      </p:sp>
      <p:sp>
        <p:nvSpPr>
          <p:cNvPr id="7" name="Text 4"/>
          <p:cNvSpPr txBox="1"/>
          <p:nvPr/>
        </p:nvSpPr>
        <p:spPr>
          <a:xfrm>
            <a:off x="8001000" y="3840480"/>
            <a:ext cx="3639312" cy="731520"/>
          </a:xfrm>
          <a:prstGeom prst="rect">
            <a:avLst/>
          </a:prstGeom>
          <a:noFill/>
          <a:ln/>
        </p:spPr>
        <p:txBody>
          <a:bodyPr wrap="square" lIns="0" tIns="0" rIns="0" bIns="0" rtlCol="0" anchor="t"/>
          <a:lstStyle/>
          <a:p>
            <a:pPr indent="0" marL="0">
              <a:buNone/>
            </a:pPr>
            <a:r>
              <a:rPr lang="en-US" sz="1500" dirty="0">
                <a:solidFill>
                  <a:schemeClr val="tx1"/>
                </a:solidFill>
              </a:rPr>
              <a:t>settings where it catches more lean cases than the IDRS</a:t>
            </a:r>
            <a:endParaRPr lang="en-US" sz="1500" dirty="0"/>
          </a:p>
        </p:txBody>
      </p:sp>
      <p:sp>
        <p:nvSpPr>
          <p:cNvPr id="8" name="Text 5"/>
          <p:cNvSpPr txBox="1"/>
          <p:nvPr/>
        </p:nvSpPr>
        <p:spPr>
          <a:xfrm>
            <a:off x="8001000" y="4526280"/>
            <a:ext cx="3639312" cy="1463040"/>
          </a:xfrm>
          <a:prstGeom prst="rect">
            <a:avLst/>
          </a:prstGeom>
          <a:noFill/>
          <a:ln/>
        </p:spPr>
        <p:txBody>
          <a:bodyPr wrap="square" lIns="0" tIns="0" rIns="0" bIns="0" rtlCol="0" anchor="t"/>
          <a:lstStyle/>
          <a:p>
            <a:pPr indent="0" marL="0">
              <a:buNone/>
            </a:pPr>
            <a:r>
              <a:rPr lang="en-US" sz="1400" dirty="0">
                <a:solidFill>
                  <a:srgbClr val="586A72"/>
                </a:solidFill>
              </a:rPr>
              <a:t>AUC gain in every South Asian population: +0.05 to +0.08. Risk runs about 11% high on real genomes, equally in every group, so local recalibration fixes it.</a:t>
            </a:r>
            <a:endParaRPr lang="en-US" sz="14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Consumer DNA files: filling the gaps</a:t>
            </a:r>
            <a:endParaRPr lang="en-US" sz="3600" dirty="0"/>
          </a:p>
        </p:txBody>
      </p:sp>
      <p:graphicFrame>
        <p:nvGraphicFramePr>
          <p:cNvPr id="3" name="Chart 0" descr=""/>
          <p:cNvGraphicFramePr/>
          <p:nvPr/>
        </p:nvGraphicFramePr>
        <p:xfrm>
          <a:off x="548640" y="1280160"/>
          <a:ext cx="6492240" cy="47548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452360" y="1371600"/>
            <a:ext cx="4187952" cy="365760"/>
          </a:xfrm>
          <a:prstGeom prst="rect">
            <a:avLst/>
          </a:prstGeom>
          <a:noFill/>
          <a:ln/>
        </p:spPr>
        <p:txBody>
          <a:bodyPr wrap="square" lIns="0" tIns="0" rIns="0" bIns="0" rtlCol="0" anchor="t"/>
          <a:lstStyle/>
          <a:p>
            <a:pPr indent="0" marL="0">
              <a:buNone/>
            </a:pPr>
            <a:r>
              <a:rPr lang="en-US" sz="1500" b="1" dirty="0">
                <a:solidFill>
                  <a:srgbClr val="586A72"/>
                </a:solidFill>
              </a:rPr>
              <a:t>At 45% coverage, typical of a 23andMe file</a:t>
            </a:r>
            <a:endParaRPr lang="en-US" sz="1500" dirty="0"/>
          </a:p>
        </p:txBody>
      </p:sp>
      <p:sp>
        <p:nvSpPr>
          <p:cNvPr id="5" name="Text 2"/>
          <p:cNvSpPr txBox="1"/>
          <p:nvPr/>
        </p:nvSpPr>
        <p:spPr>
          <a:xfrm>
            <a:off x="7452360" y="1828800"/>
            <a:ext cx="4187952" cy="701040"/>
          </a:xfrm>
          <a:prstGeom prst="rect">
            <a:avLst/>
          </a:prstGeom>
          <a:noFill/>
          <a:ln/>
        </p:spPr>
        <p:txBody>
          <a:bodyPr wrap="square" lIns="0" tIns="0" rIns="0" bIns="0" rtlCol="0" anchor="b"/>
          <a:lstStyle/>
          <a:p>
            <a:pPr indent="0" marL="0">
              <a:buNone/>
            </a:pPr>
            <a:r>
              <a:rPr lang="en-US" sz="3400" b="1" dirty="0">
                <a:solidFill>
                  <a:schemeClr val="accent1"/>
                </a:solidFill>
                <a:latin typeface="+mj-lt" pitchFamily="34" charset="0"/>
                <a:ea typeface="+mj-lt" pitchFamily="34" charset="-122"/>
                <a:cs typeface="+mj-lt" pitchFamily="34" charset="-120"/>
              </a:rPr>
              <a:t>13 </a:t>
            </a:r>
            <a:pPr indent="0" marL="0">
              <a:buNone/>
            </a:pPr>
            <a:r>
              <a:rPr lang="en-US" sz="2700" b="1" dirty="0">
                <a:solidFill>
                  <a:schemeClr val="accent1"/>
                </a:solidFill>
                <a:latin typeface="+mn-lt" pitchFamily="34" charset="0"/>
                <a:ea typeface="+mn-lt" pitchFamily="34" charset="-122"/>
                <a:cs typeface="+mn-lt" pitchFamily="34" charset="-120"/>
              </a:rPr>
              <a:t>→</a:t>
            </a:r>
            <a:pPr indent="0" marL="0">
              <a:buNone/>
            </a:pPr>
            <a:r>
              <a:rPr lang="en-US" sz="3400" b="1" dirty="0">
                <a:solidFill>
                  <a:schemeClr val="accent1"/>
                </a:solidFill>
                <a:latin typeface="+mj-lt" pitchFamily="34" charset="0"/>
                <a:ea typeface="+mj-lt" pitchFamily="34" charset="-122"/>
                <a:cs typeface="+mj-lt" pitchFamily="34" charset="-120"/>
              </a:rPr>
              <a:t> 6</a:t>
            </a:r>
            <a:endParaRPr lang="en-US" sz="3400" dirty="0"/>
          </a:p>
        </p:txBody>
      </p:sp>
      <p:sp>
        <p:nvSpPr>
          <p:cNvPr id="6" name="Text 3"/>
          <p:cNvSpPr txBox="1"/>
          <p:nvPr/>
        </p:nvSpPr>
        <p:spPr>
          <a:xfrm>
            <a:off x="7452360" y="2575560"/>
            <a:ext cx="4187952" cy="731520"/>
          </a:xfrm>
          <a:prstGeom prst="rect">
            <a:avLst/>
          </a:prstGeom>
          <a:noFill/>
          <a:ln/>
        </p:spPr>
        <p:txBody>
          <a:bodyPr wrap="square" lIns="0" tIns="0" rIns="0" bIns="0" rtlCol="0" anchor="t"/>
          <a:lstStyle/>
          <a:p>
            <a:pPr indent="0" marL="0">
              <a:buNone/>
            </a:pPr>
            <a:r>
              <a:rPr lang="en-US" sz="1500" dirty="0">
                <a:solidFill>
                  <a:schemeClr val="tx1"/>
                </a:solidFill>
              </a:rPr>
              <a:t>points of error in the risk percentile</a:t>
            </a:r>
            <a:endParaRPr lang="en-US" sz="1500" dirty="0"/>
          </a:p>
        </p:txBody>
      </p:sp>
      <p:sp>
        <p:nvSpPr>
          <p:cNvPr id="7" name="Text 4"/>
          <p:cNvSpPr txBox="1"/>
          <p:nvPr/>
        </p:nvSpPr>
        <p:spPr>
          <a:xfrm>
            <a:off x="7452360" y="3200400"/>
            <a:ext cx="4187952" cy="701040"/>
          </a:xfrm>
          <a:prstGeom prst="rect">
            <a:avLst/>
          </a:prstGeom>
          <a:noFill/>
          <a:ln/>
        </p:spPr>
        <p:txBody>
          <a:bodyPr wrap="square" lIns="0" tIns="0" rIns="0" bIns="0" rtlCol="0" anchor="b"/>
          <a:lstStyle/>
          <a:p>
            <a:pPr indent="0" marL="0">
              <a:buNone/>
            </a:pPr>
            <a:r>
              <a:rPr lang="en-US" sz="3400" b="1" dirty="0">
                <a:solidFill>
                  <a:schemeClr val="accent1"/>
                </a:solidFill>
                <a:latin typeface="+mj-lt" pitchFamily="34" charset="0"/>
                <a:ea typeface="+mj-lt" pitchFamily="34" charset="-122"/>
                <a:cs typeface="+mj-lt" pitchFamily="34" charset="-120"/>
              </a:rPr>
              <a:t>54% </a:t>
            </a:r>
            <a:pPr indent="0" marL="0">
              <a:buNone/>
            </a:pPr>
            <a:r>
              <a:rPr lang="en-US" sz="2700" b="1" dirty="0">
                <a:solidFill>
                  <a:schemeClr val="accent1"/>
                </a:solidFill>
                <a:latin typeface="+mn-lt" pitchFamily="34" charset="0"/>
                <a:ea typeface="+mn-lt" pitchFamily="34" charset="-122"/>
                <a:cs typeface="+mn-lt" pitchFamily="34" charset="-120"/>
              </a:rPr>
              <a:t>→</a:t>
            </a:r>
            <a:pPr indent="0" marL="0">
              <a:buNone/>
            </a:pPr>
            <a:r>
              <a:rPr lang="en-US" sz="3400" b="1" dirty="0">
                <a:solidFill>
                  <a:schemeClr val="accent1"/>
                </a:solidFill>
                <a:latin typeface="+mj-lt" pitchFamily="34" charset="0"/>
                <a:ea typeface="+mj-lt" pitchFamily="34" charset="-122"/>
                <a:cs typeface="+mj-lt" pitchFamily="34" charset="-120"/>
              </a:rPr>
              <a:t> 80%</a:t>
            </a:r>
            <a:endParaRPr lang="en-US" sz="3400" dirty="0"/>
          </a:p>
        </p:txBody>
      </p:sp>
      <p:sp>
        <p:nvSpPr>
          <p:cNvPr id="8" name="Text 5"/>
          <p:cNvSpPr txBox="1"/>
          <p:nvPr/>
        </p:nvSpPr>
        <p:spPr>
          <a:xfrm>
            <a:off x="7452360" y="3947160"/>
            <a:ext cx="4187952" cy="731520"/>
          </a:xfrm>
          <a:prstGeom prst="rect">
            <a:avLst/>
          </a:prstGeom>
          <a:noFill/>
          <a:ln/>
        </p:spPr>
        <p:txBody>
          <a:bodyPr wrap="square" lIns="0" tIns="0" rIns="0" bIns="0" rtlCol="0" anchor="t"/>
          <a:lstStyle/>
          <a:p>
            <a:pPr indent="0" marL="0">
              <a:buNone/>
            </a:pPr>
            <a:r>
              <a:rPr lang="en-US" sz="1500" dirty="0">
                <a:solidFill>
                  <a:schemeClr val="tx1"/>
                </a:solidFill>
              </a:rPr>
              <a:t>of truly high-risk people still flagged high</a:t>
            </a:r>
            <a:endParaRPr lang="en-US" sz="1500" dirty="0"/>
          </a:p>
        </p:txBody>
      </p:sp>
      <p:sp>
        <p:nvSpPr>
          <p:cNvPr id="9" name="Text 6"/>
          <p:cNvSpPr txBox="1"/>
          <p:nvPr/>
        </p:nvSpPr>
        <p:spPr>
          <a:xfrm>
            <a:off x="7452360" y="4572000"/>
            <a:ext cx="4187952" cy="701040"/>
          </a:xfrm>
          <a:prstGeom prst="rect">
            <a:avLst/>
          </a:prstGeom>
          <a:noFill/>
          <a:ln/>
        </p:spPr>
        <p:txBody>
          <a:bodyPr wrap="square" lIns="0" tIns="0" rIns="0" bIns="0" rtlCol="0" anchor="b"/>
          <a:lstStyle/>
          <a:p>
            <a:pPr indent="0" marL="0">
              <a:buNone/>
            </a:pPr>
            <a:r>
              <a:rPr lang="en-US" sz="3400" b="1" dirty="0">
                <a:solidFill>
                  <a:schemeClr val="accent1"/>
                </a:solidFill>
                <a:latin typeface="+mj-lt" pitchFamily="34" charset="0"/>
                <a:ea typeface="+mj-lt" pitchFamily="34" charset="-122"/>
                <a:cs typeface="+mj-lt" pitchFamily="34" charset="-120"/>
              </a:rPr>
              <a:t>0.95 </a:t>
            </a:r>
            <a:pPr indent="0" marL="0">
              <a:buNone/>
            </a:pPr>
            <a:r>
              <a:rPr lang="en-US" sz="2700" b="1" dirty="0">
                <a:solidFill>
                  <a:schemeClr val="accent1"/>
                </a:solidFill>
                <a:latin typeface="+mn-lt" pitchFamily="34" charset="0"/>
                <a:ea typeface="+mn-lt" pitchFamily="34" charset="-122"/>
                <a:cs typeface="+mn-lt" pitchFamily="34" charset="-120"/>
              </a:rPr>
              <a:t>→</a:t>
            </a:r>
            <a:pPr indent="0" marL="0">
              <a:buNone/>
            </a:pPr>
            <a:r>
              <a:rPr lang="en-US" sz="3400" b="1" dirty="0">
                <a:solidFill>
                  <a:schemeClr val="accent1"/>
                </a:solidFill>
                <a:latin typeface="+mj-lt" pitchFamily="34" charset="0"/>
                <a:ea typeface="+mj-lt" pitchFamily="34" charset="-122"/>
                <a:cs typeface="+mj-lt" pitchFamily="34" charset="-120"/>
              </a:rPr>
              <a:t> 0.98</a:t>
            </a:r>
            <a:endParaRPr lang="en-US" sz="3400" dirty="0"/>
          </a:p>
        </p:txBody>
      </p:sp>
      <p:sp>
        <p:nvSpPr>
          <p:cNvPr id="10" name="Text 7"/>
          <p:cNvSpPr txBox="1"/>
          <p:nvPr/>
        </p:nvSpPr>
        <p:spPr>
          <a:xfrm>
            <a:off x="7452360" y="5318760"/>
            <a:ext cx="4187952" cy="731520"/>
          </a:xfrm>
          <a:prstGeom prst="rect">
            <a:avLst/>
          </a:prstGeom>
          <a:noFill/>
          <a:ln/>
        </p:spPr>
        <p:txBody>
          <a:bodyPr wrap="square" lIns="0" tIns="0" rIns="0" bIns="0" rtlCol="0" anchor="t"/>
          <a:lstStyle/>
          <a:p>
            <a:pPr indent="0" marL="0">
              <a:buNone/>
            </a:pPr>
            <a:r>
              <a:rPr lang="en-US" sz="1500" dirty="0">
                <a:solidFill>
                  <a:schemeClr val="tx1"/>
                </a:solidFill>
              </a:rPr>
              <a:t>correlation with the full-genome PRS</a:t>
            </a:r>
            <a:endParaRPr lang="en-US" sz="1500" dirty="0"/>
          </a:p>
        </p:txBody>
      </p:sp>
      <p:sp>
        <p:nvSpPr>
          <p:cNvPr id="11" name="Text 8"/>
          <p:cNvSpPr txBox="1"/>
          <p:nvPr/>
        </p:nvSpPr>
        <p:spPr>
          <a:xfrm>
            <a:off x="7452360" y="5669280"/>
            <a:ext cx="4187952" cy="548640"/>
          </a:xfrm>
          <a:prstGeom prst="rect">
            <a:avLst/>
          </a:prstGeom>
          <a:noFill/>
          <a:ln/>
        </p:spPr>
        <p:txBody>
          <a:bodyPr wrap="square" lIns="0" tIns="0" rIns="0" bIns="0" rtlCol="0" anchor="t"/>
          <a:lstStyle/>
          <a:p>
            <a:pPr indent="0" marL="0">
              <a:buNone/>
            </a:pPr>
            <a:r>
              <a:rPr lang="en-US" sz="1100" i="1" dirty="0">
                <a:solidFill>
                  <a:srgbClr val="586A72"/>
                </a:solidFill>
              </a:rPr>
              <a:t>Each missing variant is predicted from its best-correlated measured neighbour in 489 South Asian genomes; about one second per genome.</a:t>
            </a:r>
            <a:endParaRPr lang="en-US" sz="11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The working application</a:t>
            </a:r>
            <a:endParaRPr lang="en-US" sz="3600" dirty="0"/>
          </a:p>
        </p:txBody>
      </p:sp>
      <p:pic>
        <p:nvPicPr>
          <p:cNvPr id="3" name="Dashboard screenshot" descr="Dashboard report for a lean, high-risk synthetic demo persona">    </p:cNvPr>
          <p:cNvPicPr>
            <a:picLocks noChangeAspect="1"/>
          </p:cNvPicPr>
          <p:nvPr/>
        </p:nvPicPr>
        <p:blipFill>
          <a:blip r:embed="rId1"/>
          <a:stretch>
            <a:fillRect/>
          </a:stretch>
        </p:blipFill>
        <p:spPr>
          <a:xfrm>
            <a:off x="548640" y="1325880"/>
            <a:ext cx="4091178" cy="4160520"/>
          </a:xfrm>
          <a:prstGeom prst="rect">
            <a:avLst/>
          </a:prstGeom>
        </p:spPr>
      </p:pic>
      <p:pic>
        <p:nvPicPr>
          <p:cNvPr id="4" name="PDF report" descr="One-page PDF version of the risk report">    </p:cNvPr>
          <p:cNvPicPr>
            <a:picLocks noChangeAspect="1"/>
          </p:cNvPicPr>
          <p:nvPr/>
        </p:nvPicPr>
        <p:blipFill>
          <a:blip r:embed="rId2"/>
          <a:stretch>
            <a:fillRect/>
          </a:stretch>
        </p:blipFill>
        <p:spPr>
          <a:xfrm>
            <a:off x="4914138" y="1325880"/>
            <a:ext cx="2941303" cy="4160520"/>
          </a:xfrm>
          <a:prstGeom prst="rect">
            <a:avLst/>
          </a:prstGeom>
        </p:spPr>
      </p:pic>
      <p:sp>
        <p:nvSpPr>
          <p:cNvPr id="5" name="Text 1"/>
          <p:cNvSpPr txBox="1"/>
          <p:nvPr/>
        </p:nvSpPr>
        <p:spPr>
          <a:xfrm>
            <a:off x="548640" y="5577840"/>
            <a:ext cx="4091178" cy="320040"/>
          </a:xfrm>
          <a:prstGeom prst="rect">
            <a:avLst/>
          </a:prstGeom>
          <a:noFill/>
          <a:ln/>
        </p:spPr>
        <p:txBody>
          <a:bodyPr wrap="square" lIns="0" tIns="0" rIns="0" bIns="0" rtlCol="0" anchor="t"/>
          <a:lstStyle/>
          <a:p>
            <a:pPr indent="0" marL="0">
              <a:buNone/>
            </a:pPr>
            <a:r>
              <a:rPr lang="en-US" sz="1100" i="1" dirty="0">
                <a:solidFill>
                  <a:srgbClr val="586A72"/>
                </a:solidFill>
              </a:rPr>
              <a:t>Dashboard report for a synthetic demo persona</a:t>
            </a:r>
            <a:endParaRPr lang="en-US" sz="1100" dirty="0"/>
          </a:p>
        </p:txBody>
      </p:sp>
      <p:sp>
        <p:nvSpPr>
          <p:cNvPr id="6" name="Text 2"/>
          <p:cNvSpPr txBox="1"/>
          <p:nvPr/>
        </p:nvSpPr>
        <p:spPr>
          <a:xfrm>
            <a:off x="4914138" y="5577840"/>
            <a:ext cx="2941303" cy="320040"/>
          </a:xfrm>
          <a:prstGeom prst="rect">
            <a:avLst/>
          </a:prstGeom>
          <a:noFill/>
          <a:ln/>
        </p:spPr>
        <p:txBody>
          <a:bodyPr wrap="square" lIns="0" tIns="0" rIns="0" bIns="0" rtlCol="0" anchor="t"/>
          <a:lstStyle/>
          <a:p>
            <a:pPr indent="0" marL="0">
              <a:buNone/>
            </a:pPr>
            <a:r>
              <a:rPr lang="en-US" sz="1100" i="1" dirty="0">
                <a:solidFill>
                  <a:srgbClr val="586A72"/>
                </a:solidFill>
              </a:rPr>
              <a:t>The one-page PDF</a:t>
            </a:r>
            <a:endParaRPr lang="en-US" sz="1100" dirty="0"/>
          </a:p>
        </p:txBody>
      </p:sp>
      <p:sp>
        <p:nvSpPr>
          <p:cNvPr id="7" name="Text 3"/>
          <p:cNvSpPr txBox="1"/>
          <p:nvPr/>
        </p:nvSpPr>
        <p:spPr>
          <a:xfrm>
            <a:off x="8175481" y="1371600"/>
            <a:ext cx="3467575" cy="42062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Reads 23andMe and AncestryDNA files</a:t>
            </a:r>
            <a:endParaRPr lang="en-US" sz="1500" dirty="0"/>
          </a:p>
          <a:p>
            <a:pPr marL="342900" indent="-342900">
              <a:spcAft>
                <a:spcPts val="1000"/>
              </a:spcAft>
              <a:buSzPct val="100000"/>
              <a:buChar char="•"/>
            </a:pPr>
            <a:r>
              <a:rPr lang="en-US" sz="1500" dirty="0">
                <a:solidFill>
                  <a:schemeClr val="tx1"/>
                </a:solidFill>
              </a:rPr>
              <a:t>Fills in missing variants (LD imputation)</a:t>
            </a:r>
            <a:endParaRPr lang="en-US" sz="1500" dirty="0"/>
          </a:p>
          <a:p>
            <a:pPr marL="342900" indent="-342900">
              <a:spcAft>
                <a:spcPts val="1000"/>
              </a:spcAft>
              <a:buSzPct val="100000"/>
              <a:buChar char="•"/>
            </a:pPr>
            <a:r>
              <a:rPr lang="en-US" sz="1500" dirty="0">
                <a:solidFill>
                  <a:schemeClr val="tx1"/>
                </a:solidFill>
              </a:rPr>
              <a:t>Risk tier, percentile, IDRS and screening flags</a:t>
            </a:r>
            <a:endParaRPr lang="en-US" sz="1500" dirty="0"/>
          </a:p>
          <a:p>
            <a:pPr marL="342900" indent="-342900">
              <a:spcAft>
                <a:spcPts val="1000"/>
              </a:spcAft>
              <a:buSzPct val="100000"/>
              <a:buChar char="•"/>
            </a:pPr>
            <a:r>
              <a:rPr lang="en-US" sz="1500" dirty="0">
                <a:solidFill>
                  <a:schemeClr val="tx1"/>
                </a:solidFill>
              </a:rPr>
              <a:t>Mechanism profile and SHAP-ranked gene pairs</a:t>
            </a:r>
            <a:endParaRPr lang="en-US" sz="1500" dirty="0"/>
          </a:p>
          <a:p>
            <a:pPr marL="342900" indent="-342900">
              <a:spcAft>
                <a:spcPts val="1000"/>
              </a:spcAft>
              <a:buSzPct val="100000"/>
              <a:buChar char="•"/>
            </a:pPr>
            <a:r>
              <a:rPr lang="en-US" sz="1500" dirty="0">
                <a:solidFill>
                  <a:schemeClr val="tx1"/>
                </a:solidFill>
              </a:rPr>
              <a:t>Live lifestyle what-ifs</a:t>
            </a:r>
            <a:endParaRPr lang="en-US" sz="1500" dirty="0"/>
          </a:p>
          <a:p>
            <a:pPr marL="342900" indent="-342900">
              <a:spcAft>
                <a:spcPts val="1000"/>
              </a:spcAft>
              <a:buSzPct val="100000"/>
              <a:buChar char="•"/>
            </a:pPr>
            <a:r>
              <a:rPr lang="en-US" sz="1500" dirty="0">
                <a:solidFill>
                  <a:schemeClr val="tx1"/>
                </a:solidFill>
              </a:rPr>
              <a:t>PDF report, REST API and Docker image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Built to be checked</a:t>
            </a:r>
            <a:endParaRPr lang="en-US" sz="3600" dirty="0"/>
          </a:p>
        </p:txBody>
      </p:sp>
      <p:sp>
        <p:nvSpPr>
          <p:cNvPr id="3" name="Engineering tile 1"/>
          <p:cNvSpPr/>
          <p:nvPr/>
        </p:nvSpPr>
        <p:spPr>
          <a:xfrm>
            <a:off x="548640" y="1417320"/>
            <a:ext cx="3520440" cy="2103120"/>
          </a:xfrm>
          <a:prstGeom prst="roundRect">
            <a:avLst>
              <a:gd name="adj" fmla="val 5217"/>
            </a:avLst>
          </a:prstGeom>
          <a:solidFill>
            <a:schemeClr val="bg2"/>
          </a:solidFill>
          <a:ln w="12700">
            <a:solidFill>
              <a:schemeClr val="bg2"/>
            </a:solidFill>
            <a:prstDash val="solid"/>
          </a:ln>
        </p:spPr>
      </p:sp>
      <p:sp>
        <p:nvSpPr>
          <p:cNvPr id="4" name="Engineering 1 circle"/>
          <p:cNvSpPr/>
          <p:nvPr/>
        </p:nvSpPr>
        <p:spPr>
          <a:xfrm>
            <a:off x="822960" y="1691640"/>
            <a:ext cx="640080" cy="640080"/>
          </a:xfrm>
          <a:prstGeom prst="ellipse">
            <a:avLst/>
          </a:prstGeom>
          <a:solidFill>
            <a:schemeClr val="accent1"/>
          </a:solidFill>
          <a:ln w="12700">
            <a:solidFill>
              <a:schemeClr val="accent1"/>
            </a:solidFill>
            <a:prstDash val="solid"/>
          </a:ln>
        </p:spPr>
      </p:sp>
      <p:pic>
        <p:nvPicPr>
          <p:cNvPr id="5" name="Engineering 1 icon" descr="Engineering 1 icon">    </p:cNvPr>
          <p:cNvPicPr>
            <a:picLocks noChangeAspect="1"/>
          </p:cNvPicPr>
          <p:nvPr/>
        </p:nvPicPr>
        <p:blipFill>
          <a:blip r:embed="rId1"/>
          <a:stretch>
            <a:fillRect/>
          </a:stretch>
        </p:blipFill>
        <p:spPr>
          <a:xfrm>
            <a:off x="976579" y="1845259"/>
            <a:ext cx="332842" cy="332842"/>
          </a:xfrm>
          <a:prstGeom prst="rect">
            <a:avLst/>
          </a:prstGeom>
        </p:spPr>
      </p:pic>
      <p:sp>
        <p:nvSpPr>
          <p:cNvPr id="6" name="Text 3"/>
          <p:cNvSpPr txBox="1"/>
          <p:nvPr/>
        </p:nvSpPr>
        <p:spPr>
          <a:xfrm>
            <a:off x="1645920" y="1618488"/>
            <a:ext cx="2286000" cy="77724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38</a:t>
            </a:r>
            <a:endParaRPr lang="en-US" sz="4000" dirty="0"/>
          </a:p>
        </p:txBody>
      </p:sp>
      <p:sp>
        <p:nvSpPr>
          <p:cNvPr id="7" name="Text 4"/>
          <p:cNvSpPr txBox="1"/>
          <p:nvPr/>
        </p:nvSpPr>
        <p:spPr>
          <a:xfrm>
            <a:off x="822960" y="2514600"/>
            <a:ext cx="3017520" cy="822960"/>
          </a:xfrm>
          <a:prstGeom prst="rect">
            <a:avLst/>
          </a:prstGeom>
          <a:noFill/>
          <a:ln/>
        </p:spPr>
        <p:txBody>
          <a:bodyPr wrap="square" lIns="0" tIns="0" rIns="0" bIns="0" rtlCol="0" anchor="t"/>
          <a:lstStyle/>
          <a:p>
            <a:pPr indent="0" marL="0">
              <a:buNone/>
            </a:pPr>
            <a:r>
              <a:rPr lang="en-US" sz="1500" dirty="0">
                <a:solidFill>
                  <a:schemeClr val="tx1"/>
                </a:solidFill>
              </a:rPr>
              <a:t>automated tests, run on every push with GitHub Actions</a:t>
            </a:r>
            <a:endParaRPr lang="en-US" sz="1500" dirty="0"/>
          </a:p>
        </p:txBody>
      </p:sp>
      <p:sp>
        <p:nvSpPr>
          <p:cNvPr id="8" name="Engineering tile 2"/>
          <p:cNvSpPr/>
          <p:nvPr/>
        </p:nvSpPr>
        <p:spPr>
          <a:xfrm>
            <a:off x="4334256" y="1417320"/>
            <a:ext cx="3520440" cy="2103120"/>
          </a:xfrm>
          <a:prstGeom prst="roundRect">
            <a:avLst>
              <a:gd name="adj" fmla="val 5217"/>
            </a:avLst>
          </a:prstGeom>
          <a:solidFill>
            <a:schemeClr val="bg2"/>
          </a:solidFill>
          <a:ln w="12700">
            <a:solidFill>
              <a:schemeClr val="bg2"/>
            </a:solidFill>
            <a:prstDash val="solid"/>
          </a:ln>
        </p:spPr>
      </p:sp>
      <p:sp>
        <p:nvSpPr>
          <p:cNvPr id="9" name="Engineering 2 circle"/>
          <p:cNvSpPr/>
          <p:nvPr/>
        </p:nvSpPr>
        <p:spPr>
          <a:xfrm>
            <a:off x="4608576" y="1691640"/>
            <a:ext cx="640080" cy="640080"/>
          </a:xfrm>
          <a:prstGeom prst="ellipse">
            <a:avLst/>
          </a:prstGeom>
          <a:solidFill>
            <a:schemeClr val="accent1"/>
          </a:solidFill>
          <a:ln w="12700">
            <a:solidFill>
              <a:schemeClr val="accent1"/>
            </a:solidFill>
            <a:prstDash val="solid"/>
          </a:ln>
        </p:spPr>
      </p:sp>
      <p:pic>
        <p:nvPicPr>
          <p:cNvPr id="10" name="Engineering 2 icon" descr="Engineering 2 icon">    </p:cNvPr>
          <p:cNvPicPr>
            <a:picLocks noChangeAspect="1"/>
          </p:cNvPicPr>
          <p:nvPr/>
        </p:nvPicPr>
        <p:blipFill>
          <a:blip r:embed="rId2"/>
          <a:stretch>
            <a:fillRect/>
          </a:stretch>
        </p:blipFill>
        <p:spPr>
          <a:xfrm>
            <a:off x="4762195" y="1845259"/>
            <a:ext cx="332842" cy="332842"/>
          </a:xfrm>
          <a:prstGeom prst="rect">
            <a:avLst/>
          </a:prstGeom>
        </p:spPr>
      </p:pic>
      <p:sp>
        <p:nvSpPr>
          <p:cNvPr id="11" name="Text 7"/>
          <p:cNvSpPr txBox="1"/>
          <p:nvPr/>
        </p:nvSpPr>
        <p:spPr>
          <a:xfrm>
            <a:off x="5431536" y="1618488"/>
            <a:ext cx="2286000" cy="77724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15</a:t>
            </a:r>
            <a:endParaRPr lang="en-US" sz="4000" dirty="0"/>
          </a:p>
        </p:txBody>
      </p:sp>
      <p:sp>
        <p:nvSpPr>
          <p:cNvPr id="12" name="Text 8"/>
          <p:cNvSpPr txBox="1"/>
          <p:nvPr/>
        </p:nvSpPr>
        <p:spPr>
          <a:xfrm>
            <a:off x="4608576" y="2514600"/>
            <a:ext cx="3017520" cy="822960"/>
          </a:xfrm>
          <a:prstGeom prst="rect">
            <a:avLst/>
          </a:prstGeom>
          <a:noFill/>
          <a:ln/>
        </p:spPr>
        <p:txBody>
          <a:bodyPr wrap="square" lIns="0" tIns="0" rIns="0" bIns="0" rtlCol="0" anchor="t"/>
          <a:lstStyle/>
          <a:p>
            <a:pPr indent="0" marL="0">
              <a:buNone/>
            </a:pPr>
            <a:r>
              <a:rPr lang="en-US" sz="1500" dirty="0">
                <a:solidFill>
                  <a:schemeClr val="tx1"/>
                </a:solidFill>
              </a:rPr>
              <a:t>experiments, from data checks to robustness</a:t>
            </a:r>
            <a:endParaRPr lang="en-US" sz="1500" dirty="0"/>
          </a:p>
        </p:txBody>
      </p:sp>
      <p:sp>
        <p:nvSpPr>
          <p:cNvPr id="13" name="Engineering tile 3"/>
          <p:cNvSpPr/>
          <p:nvPr/>
        </p:nvSpPr>
        <p:spPr>
          <a:xfrm>
            <a:off x="8119872" y="1417320"/>
            <a:ext cx="3520440" cy="2103120"/>
          </a:xfrm>
          <a:prstGeom prst="roundRect">
            <a:avLst>
              <a:gd name="adj" fmla="val 5217"/>
            </a:avLst>
          </a:prstGeom>
          <a:solidFill>
            <a:schemeClr val="bg2"/>
          </a:solidFill>
          <a:ln w="12700">
            <a:solidFill>
              <a:schemeClr val="bg2"/>
            </a:solidFill>
            <a:prstDash val="solid"/>
          </a:ln>
        </p:spPr>
      </p:sp>
      <p:sp>
        <p:nvSpPr>
          <p:cNvPr id="14" name="Engineering 3 circle"/>
          <p:cNvSpPr/>
          <p:nvPr/>
        </p:nvSpPr>
        <p:spPr>
          <a:xfrm>
            <a:off x="8394192" y="1691640"/>
            <a:ext cx="640080" cy="640080"/>
          </a:xfrm>
          <a:prstGeom prst="ellipse">
            <a:avLst/>
          </a:prstGeom>
          <a:solidFill>
            <a:schemeClr val="accent1"/>
          </a:solidFill>
          <a:ln w="12700">
            <a:solidFill>
              <a:schemeClr val="accent1"/>
            </a:solidFill>
            <a:prstDash val="solid"/>
          </a:ln>
        </p:spPr>
      </p:sp>
      <p:pic>
        <p:nvPicPr>
          <p:cNvPr id="15" name="Engineering 3 icon" descr="Engineering 3 icon">    </p:cNvPr>
          <p:cNvPicPr>
            <a:picLocks noChangeAspect="1"/>
          </p:cNvPicPr>
          <p:nvPr/>
        </p:nvPicPr>
        <p:blipFill>
          <a:blip r:embed="rId3"/>
          <a:stretch>
            <a:fillRect/>
          </a:stretch>
        </p:blipFill>
        <p:spPr>
          <a:xfrm>
            <a:off x="8547811" y="1845259"/>
            <a:ext cx="332842" cy="332842"/>
          </a:xfrm>
          <a:prstGeom prst="rect">
            <a:avLst/>
          </a:prstGeom>
        </p:spPr>
      </p:pic>
      <p:sp>
        <p:nvSpPr>
          <p:cNvPr id="16" name="Text 11"/>
          <p:cNvSpPr txBox="1"/>
          <p:nvPr/>
        </p:nvSpPr>
        <p:spPr>
          <a:xfrm>
            <a:off x="9217152" y="1618488"/>
            <a:ext cx="2286000" cy="77724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17</a:t>
            </a:r>
            <a:endParaRPr lang="en-US" sz="4000" dirty="0"/>
          </a:p>
        </p:txBody>
      </p:sp>
      <p:sp>
        <p:nvSpPr>
          <p:cNvPr id="17" name="Text 12"/>
          <p:cNvSpPr txBox="1"/>
          <p:nvPr/>
        </p:nvSpPr>
        <p:spPr>
          <a:xfrm>
            <a:off x="8394192" y="2514600"/>
            <a:ext cx="3017520" cy="822960"/>
          </a:xfrm>
          <a:prstGeom prst="rect">
            <a:avLst/>
          </a:prstGeom>
          <a:noFill/>
          <a:ln/>
        </p:spPr>
        <p:txBody>
          <a:bodyPr wrap="square" lIns="0" tIns="0" rIns="0" bIns="0" rtlCol="0" anchor="t"/>
          <a:lstStyle/>
          <a:p>
            <a:pPr indent="0" marL="0">
              <a:buNone/>
            </a:pPr>
            <a:r>
              <a:rPr lang="en-US" sz="1500" dirty="0">
                <a:solidFill>
                  <a:schemeClr val="tx1"/>
                </a:solidFill>
              </a:rPr>
              <a:t>predictors compared on identical data splits</a:t>
            </a:r>
            <a:endParaRPr lang="en-US" sz="1500" dirty="0"/>
          </a:p>
        </p:txBody>
      </p:sp>
      <p:sp>
        <p:nvSpPr>
          <p:cNvPr id="18" name="Engineering tile 4"/>
          <p:cNvSpPr/>
          <p:nvPr/>
        </p:nvSpPr>
        <p:spPr>
          <a:xfrm>
            <a:off x="548640" y="3794760"/>
            <a:ext cx="3520440" cy="2103120"/>
          </a:xfrm>
          <a:prstGeom prst="roundRect">
            <a:avLst>
              <a:gd name="adj" fmla="val 5217"/>
            </a:avLst>
          </a:prstGeom>
          <a:solidFill>
            <a:schemeClr val="bg2"/>
          </a:solidFill>
          <a:ln w="12700">
            <a:solidFill>
              <a:schemeClr val="bg2"/>
            </a:solidFill>
            <a:prstDash val="solid"/>
          </a:ln>
        </p:spPr>
      </p:sp>
      <p:sp>
        <p:nvSpPr>
          <p:cNvPr id="19" name="Engineering 4 circle"/>
          <p:cNvSpPr/>
          <p:nvPr/>
        </p:nvSpPr>
        <p:spPr>
          <a:xfrm>
            <a:off x="822960" y="4069080"/>
            <a:ext cx="640080" cy="640080"/>
          </a:xfrm>
          <a:prstGeom prst="ellipse">
            <a:avLst/>
          </a:prstGeom>
          <a:solidFill>
            <a:schemeClr val="accent1"/>
          </a:solidFill>
          <a:ln w="12700">
            <a:solidFill>
              <a:schemeClr val="accent1"/>
            </a:solidFill>
            <a:prstDash val="solid"/>
          </a:ln>
        </p:spPr>
      </p:sp>
      <p:pic>
        <p:nvPicPr>
          <p:cNvPr id="20" name="Engineering 4 icon" descr="Engineering 4 icon">    </p:cNvPr>
          <p:cNvPicPr>
            <a:picLocks noChangeAspect="1"/>
          </p:cNvPicPr>
          <p:nvPr/>
        </p:nvPicPr>
        <p:blipFill>
          <a:blip r:embed="rId4"/>
          <a:stretch>
            <a:fillRect/>
          </a:stretch>
        </p:blipFill>
        <p:spPr>
          <a:xfrm>
            <a:off x="976579" y="4222699"/>
            <a:ext cx="332842" cy="332842"/>
          </a:xfrm>
          <a:prstGeom prst="rect">
            <a:avLst/>
          </a:prstGeom>
        </p:spPr>
      </p:pic>
      <p:sp>
        <p:nvSpPr>
          <p:cNvPr id="21" name="Text 15"/>
          <p:cNvSpPr txBox="1"/>
          <p:nvPr/>
        </p:nvSpPr>
        <p:spPr>
          <a:xfrm>
            <a:off x="1645920" y="3995928"/>
            <a:ext cx="2286000" cy="777240"/>
          </a:xfrm>
          <a:prstGeom prst="rect">
            <a:avLst/>
          </a:prstGeom>
          <a:noFill/>
          <a:ln/>
        </p:spPr>
        <p:txBody>
          <a:bodyPr wrap="square" lIns="0" tIns="0" rIns="0" bIns="0" rtlCol="0" anchor="ctr"/>
          <a:lstStyle/>
          <a:p>
            <a:pPr indent="0" marL="0">
              <a:buNone/>
            </a:pPr>
            <a:r>
              <a:rPr lang="en-US" sz="4000" b="1" dirty="0">
                <a:solidFill>
                  <a:schemeClr val="accent1"/>
                </a:solidFill>
                <a:latin typeface="+mj-lt" pitchFamily="34" charset="0"/>
                <a:ea typeface="+mj-lt" pitchFamily="34" charset="-122"/>
                <a:cs typeface="+mj-lt" pitchFamily="34" charset="-120"/>
              </a:rPr>
              <a:t>41</a:t>
            </a:r>
            <a:endParaRPr lang="en-US" sz="4000" dirty="0"/>
          </a:p>
        </p:txBody>
      </p:sp>
      <p:sp>
        <p:nvSpPr>
          <p:cNvPr id="22" name="Text 16"/>
          <p:cNvSpPr txBox="1"/>
          <p:nvPr/>
        </p:nvSpPr>
        <p:spPr>
          <a:xfrm>
            <a:off x="822960" y="4892040"/>
            <a:ext cx="3017520" cy="822960"/>
          </a:xfrm>
          <a:prstGeom prst="rect">
            <a:avLst/>
          </a:prstGeom>
          <a:noFill/>
          <a:ln/>
        </p:spPr>
        <p:txBody>
          <a:bodyPr wrap="square" lIns="0" tIns="0" rIns="0" bIns="0" rtlCol="0" anchor="t"/>
          <a:lstStyle/>
          <a:p>
            <a:pPr indent="0" marL="0">
              <a:buNone/>
            </a:pPr>
            <a:r>
              <a:rPr lang="en-US" sz="1500" dirty="0">
                <a:solidFill>
                  <a:schemeClr val="tx1"/>
                </a:solidFill>
              </a:rPr>
              <a:t>Python modules, 4,053 lines</a:t>
            </a:r>
            <a:endParaRPr lang="en-US" sz="1500" dirty="0"/>
          </a:p>
        </p:txBody>
      </p:sp>
      <p:sp>
        <p:nvSpPr>
          <p:cNvPr id="23" name="Engineering tile 5"/>
          <p:cNvSpPr/>
          <p:nvPr/>
        </p:nvSpPr>
        <p:spPr>
          <a:xfrm>
            <a:off x="4334256" y="3794760"/>
            <a:ext cx="3520440" cy="2103120"/>
          </a:xfrm>
          <a:prstGeom prst="roundRect">
            <a:avLst>
              <a:gd name="adj" fmla="val 5217"/>
            </a:avLst>
          </a:prstGeom>
          <a:solidFill>
            <a:schemeClr val="bg2"/>
          </a:solidFill>
          <a:ln w="12700">
            <a:solidFill>
              <a:schemeClr val="bg2"/>
            </a:solidFill>
            <a:prstDash val="solid"/>
          </a:ln>
        </p:spPr>
      </p:sp>
      <p:sp>
        <p:nvSpPr>
          <p:cNvPr id="24" name="Engineering 5 circle"/>
          <p:cNvSpPr/>
          <p:nvPr/>
        </p:nvSpPr>
        <p:spPr>
          <a:xfrm>
            <a:off x="4608576" y="4069080"/>
            <a:ext cx="640080" cy="640080"/>
          </a:xfrm>
          <a:prstGeom prst="ellipse">
            <a:avLst/>
          </a:prstGeom>
          <a:solidFill>
            <a:schemeClr val="accent1"/>
          </a:solidFill>
          <a:ln w="12700">
            <a:solidFill>
              <a:schemeClr val="accent1"/>
            </a:solidFill>
            <a:prstDash val="solid"/>
          </a:ln>
        </p:spPr>
      </p:sp>
      <p:pic>
        <p:nvPicPr>
          <p:cNvPr id="25" name="Engineering 5 icon" descr="Engineering 5 icon">    </p:cNvPr>
          <p:cNvPicPr>
            <a:picLocks noChangeAspect="1"/>
          </p:cNvPicPr>
          <p:nvPr/>
        </p:nvPicPr>
        <p:blipFill>
          <a:blip r:embed="rId5"/>
          <a:stretch>
            <a:fillRect/>
          </a:stretch>
        </p:blipFill>
        <p:spPr>
          <a:xfrm>
            <a:off x="4762195" y="4222699"/>
            <a:ext cx="332842" cy="332842"/>
          </a:xfrm>
          <a:prstGeom prst="rect">
            <a:avLst/>
          </a:prstGeom>
        </p:spPr>
      </p:pic>
      <p:sp>
        <p:nvSpPr>
          <p:cNvPr id="26" name="Text 19"/>
          <p:cNvSpPr txBox="1"/>
          <p:nvPr/>
        </p:nvSpPr>
        <p:spPr>
          <a:xfrm>
            <a:off x="5431536" y="3995928"/>
            <a:ext cx="2286000" cy="7772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Bit for bit</a:t>
            </a:r>
            <a:endParaRPr lang="en-US" sz="2800" dirty="0"/>
          </a:p>
        </p:txBody>
      </p:sp>
      <p:sp>
        <p:nvSpPr>
          <p:cNvPr id="27" name="Text 20"/>
          <p:cNvSpPr txBox="1"/>
          <p:nvPr/>
        </p:nvSpPr>
        <p:spPr>
          <a:xfrm>
            <a:off x="4608576" y="4892040"/>
            <a:ext cx="3017520" cy="822960"/>
          </a:xfrm>
          <a:prstGeom prst="rect">
            <a:avLst/>
          </a:prstGeom>
          <a:noFill/>
          <a:ln/>
        </p:spPr>
        <p:txBody>
          <a:bodyPr wrap="square" lIns="0" tIns="0" rIns="0" bIns="0" rtlCol="0" anchor="t"/>
          <a:lstStyle/>
          <a:p>
            <a:pPr indent="0" marL="0">
              <a:buNone/>
            </a:pPr>
            <a:r>
              <a:rPr lang="en-US" sz="1500" dirty="0">
                <a:solidFill>
                  <a:schemeClr val="tx1"/>
                </a:solidFill>
              </a:rPr>
              <a:t>re-runs reproduce the stored results</a:t>
            </a:r>
            <a:endParaRPr lang="en-US" sz="1500" dirty="0"/>
          </a:p>
        </p:txBody>
      </p:sp>
      <p:sp>
        <p:nvSpPr>
          <p:cNvPr id="28" name="Engineering tile 6"/>
          <p:cNvSpPr/>
          <p:nvPr/>
        </p:nvSpPr>
        <p:spPr>
          <a:xfrm>
            <a:off x="8119872" y="3794760"/>
            <a:ext cx="3520440" cy="2103120"/>
          </a:xfrm>
          <a:prstGeom prst="roundRect">
            <a:avLst>
              <a:gd name="adj" fmla="val 5217"/>
            </a:avLst>
          </a:prstGeom>
          <a:solidFill>
            <a:schemeClr val="bg2"/>
          </a:solidFill>
          <a:ln w="12700">
            <a:solidFill>
              <a:schemeClr val="bg2"/>
            </a:solidFill>
            <a:prstDash val="solid"/>
          </a:ln>
        </p:spPr>
      </p:sp>
      <p:sp>
        <p:nvSpPr>
          <p:cNvPr id="29" name="Engineering 6 circle"/>
          <p:cNvSpPr/>
          <p:nvPr/>
        </p:nvSpPr>
        <p:spPr>
          <a:xfrm>
            <a:off x="8394192" y="4069080"/>
            <a:ext cx="640080" cy="640080"/>
          </a:xfrm>
          <a:prstGeom prst="ellipse">
            <a:avLst/>
          </a:prstGeom>
          <a:solidFill>
            <a:schemeClr val="accent1"/>
          </a:solidFill>
          <a:ln w="12700">
            <a:solidFill>
              <a:schemeClr val="accent1"/>
            </a:solidFill>
            <a:prstDash val="solid"/>
          </a:ln>
        </p:spPr>
      </p:sp>
      <p:pic>
        <p:nvPicPr>
          <p:cNvPr id="30" name="Engineering 6 icon" descr="Engineering 6 icon">    </p:cNvPr>
          <p:cNvPicPr>
            <a:picLocks noChangeAspect="1"/>
          </p:cNvPicPr>
          <p:nvPr/>
        </p:nvPicPr>
        <p:blipFill>
          <a:blip r:embed="rId6"/>
          <a:stretch>
            <a:fillRect/>
          </a:stretch>
        </p:blipFill>
        <p:spPr>
          <a:xfrm>
            <a:off x="8547811" y="4222699"/>
            <a:ext cx="332842" cy="332842"/>
          </a:xfrm>
          <a:prstGeom prst="rect">
            <a:avLst/>
          </a:prstGeom>
        </p:spPr>
      </p:pic>
      <p:sp>
        <p:nvSpPr>
          <p:cNvPr id="31" name="Text 23"/>
          <p:cNvSpPr txBox="1"/>
          <p:nvPr/>
        </p:nvSpPr>
        <p:spPr>
          <a:xfrm>
            <a:off x="9217152" y="3995928"/>
            <a:ext cx="2286000" cy="7772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1 command</a:t>
            </a:r>
            <a:endParaRPr lang="en-US" sz="2800" dirty="0"/>
          </a:p>
        </p:txBody>
      </p:sp>
      <p:sp>
        <p:nvSpPr>
          <p:cNvPr id="32" name="Text 24"/>
          <p:cNvSpPr txBox="1"/>
          <p:nvPr/>
        </p:nvSpPr>
        <p:spPr>
          <a:xfrm>
            <a:off x="8394192" y="4892040"/>
            <a:ext cx="3017520" cy="822960"/>
          </a:xfrm>
          <a:prstGeom prst="rect">
            <a:avLst/>
          </a:prstGeom>
          <a:noFill/>
          <a:ln/>
        </p:spPr>
        <p:txBody>
          <a:bodyPr wrap="square" lIns="0" tIns="0" rIns="0" bIns="0" rtlCol="0" anchor="t"/>
          <a:lstStyle/>
          <a:p>
            <a:pPr indent="0" marL="0">
              <a:buNone/>
            </a:pPr>
            <a:r>
              <a:rPr lang="en-US" sz="1500" dirty="0">
                <a:solidFill>
                  <a:schemeClr val="tx1"/>
                </a:solidFill>
              </a:rPr>
              <a:t>docker compose up runs the app anywhere</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600" b="1" dirty="0">
                <a:solidFill>
                  <a:schemeClr val="tx1"/>
                </a:solidFill>
              </a:rPr>
              <a:t>What comes next</a:t>
            </a:r>
            <a:endParaRPr lang="en-US" sz="3600" dirty="0"/>
          </a:p>
        </p:txBody>
      </p:sp>
      <p:sp>
        <p:nvSpPr>
          <p:cNvPr id="3" name="Next card 1"/>
          <p:cNvSpPr/>
          <p:nvPr/>
        </p:nvSpPr>
        <p:spPr>
          <a:xfrm>
            <a:off x="548640" y="1417320"/>
            <a:ext cx="5408676" cy="2103120"/>
          </a:xfrm>
          <a:prstGeom prst="roundRect">
            <a:avLst>
              <a:gd name="adj" fmla="val 5217"/>
            </a:avLst>
          </a:prstGeom>
          <a:solidFill>
            <a:schemeClr val="bg2"/>
          </a:solidFill>
          <a:ln w="12700">
            <a:solidFill>
              <a:schemeClr val="bg2"/>
            </a:solidFill>
            <a:prstDash val="solid"/>
          </a:ln>
        </p:spPr>
      </p:sp>
      <p:sp>
        <p:nvSpPr>
          <p:cNvPr id="4" name="Next 1 circle"/>
          <p:cNvSpPr/>
          <p:nvPr/>
        </p:nvSpPr>
        <p:spPr>
          <a:xfrm>
            <a:off x="822960" y="1709928"/>
            <a:ext cx="731520" cy="731520"/>
          </a:xfrm>
          <a:prstGeom prst="ellipse">
            <a:avLst/>
          </a:prstGeom>
          <a:solidFill>
            <a:schemeClr val="accent2"/>
          </a:solidFill>
          <a:ln w="12700">
            <a:solidFill>
              <a:schemeClr val="accent2"/>
            </a:solidFill>
            <a:prstDash val="solid"/>
          </a:ln>
        </p:spPr>
      </p:sp>
      <p:pic>
        <p:nvPicPr>
          <p:cNvPr id="5" name="Next 1 icon" descr="Next 1 icon">    </p:cNvPr>
          <p:cNvPicPr>
            <a:picLocks noChangeAspect="1"/>
          </p:cNvPicPr>
          <p:nvPr/>
        </p:nvPicPr>
        <p:blipFill>
          <a:blip r:embed="rId1"/>
          <a:stretch>
            <a:fillRect/>
          </a:stretch>
        </p:blipFill>
        <p:spPr>
          <a:xfrm>
            <a:off x="998525" y="1885493"/>
            <a:ext cx="380390" cy="380390"/>
          </a:xfrm>
          <a:prstGeom prst="rect">
            <a:avLst/>
          </a:prstGeom>
        </p:spPr>
      </p:pic>
      <p:sp>
        <p:nvSpPr>
          <p:cNvPr id="6" name="Text 3"/>
          <p:cNvSpPr txBox="1"/>
          <p:nvPr/>
        </p:nvSpPr>
        <p:spPr>
          <a:xfrm>
            <a:off x="1737360" y="1691640"/>
            <a:ext cx="4023360" cy="411480"/>
          </a:xfrm>
          <a:prstGeom prst="rect">
            <a:avLst/>
          </a:prstGeom>
          <a:noFill/>
          <a:ln/>
        </p:spPr>
        <p:txBody>
          <a:bodyPr wrap="square" lIns="0" tIns="0" rIns="0" bIns="0" rtlCol="0" anchor="t"/>
          <a:lstStyle/>
          <a:p>
            <a:pPr indent="0" marL="0">
              <a:buNone/>
            </a:pPr>
            <a:r>
              <a:rPr lang="en-US" sz="1800" b="1" dirty="0">
                <a:solidFill>
                  <a:schemeClr val="tx1"/>
                </a:solidFill>
              </a:rPr>
              <a:t>Run on a real IBM quantum computer</a:t>
            </a:r>
            <a:endParaRPr lang="en-US" sz="1800" dirty="0"/>
          </a:p>
        </p:txBody>
      </p:sp>
      <p:sp>
        <p:nvSpPr>
          <p:cNvPr id="7" name="Text 4"/>
          <p:cNvSpPr txBox="1"/>
          <p:nvPr/>
        </p:nvSpPr>
        <p:spPr>
          <a:xfrm>
            <a:off x="1737360" y="2167128"/>
            <a:ext cx="4023360" cy="1188720"/>
          </a:xfrm>
          <a:prstGeom prst="rect">
            <a:avLst/>
          </a:prstGeom>
          <a:noFill/>
          <a:ln/>
        </p:spPr>
        <p:txBody>
          <a:bodyPr wrap="square" lIns="0" tIns="0" rIns="0" bIns="0" rtlCol="0" anchor="t"/>
          <a:lstStyle/>
          <a:p>
            <a:pPr indent="0" marL="0">
              <a:buNone/>
            </a:pPr>
            <a:r>
              <a:rPr lang="en-US" sz="1500" dirty="0">
                <a:solidFill>
                  <a:schemeClr val="tx1"/>
                </a:solidFill>
              </a:rPr>
              <a:t>The QAOA script with error mitigation is ready and rehearsed on IBM's noise model; one batched job uses about 2 of the 10 free QPU minutes.</a:t>
            </a:r>
            <a:endParaRPr lang="en-US" sz="1500" dirty="0"/>
          </a:p>
        </p:txBody>
      </p:sp>
      <p:sp>
        <p:nvSpPr>
          <p:cNvPr id="8" name="Next card 2"/>
          <p:cNvSpPr/>
          <p:nvPr/>
        </p:nvSpPr>
        <p:spPr>
          <a:xfrm>
            <a:off x="6231636" y="1417320"/>
            <a:ext cx="5408676" cy="2103120"/>
          </a:xfrm>
          <a:prstGeom prst="roundRect">
            <a:avLst>
              <a:gd name="adj" fmla="val 5217"/>
            </a:avLst>
          </a:prstGeom>
          <a:solidFill>
            <a:schemeClr val="bg2"/>
          </a:solidFill>
          <a:ln w="12700">
            <a:solidFill>
              <a:schemeClr val="bg2"/>
            </a:solidFill>
            <a:prstDash val="solid"/>
          </a:ln>
        </p:spPr>
      </p:sp>
      <p:sp>
        <p:nvSpPr>
          <p:cNvPr id="9" name="Next 2 circle"/>
          <p:cNvSpPr/>
          <p:nvPr/>
        </p:nvSpPr>
        <p:spPr>
          <a:xfrm>
            <a:off x="6505956" y="1709928"/>
            <a:ext cx="731520" cy="731520"/>
          </a:xfrm>
          <a:prstGeom prst="ellipse">
            <a:avLst/>
          </a:prstGeom>
          <a:solidFill>
            <a:schemeClr val="accent1"/>
          </a:solidFill>
          <a:ln w="12700">
            <a:solidFill>
              <a:schemeClr val="accent1"/>
            </a:solidFill>
            <a:prstDash val="solid"/>
          </a:ln>
        </p:spPr>
      </p:sp>
      <p:pic>
        <p:nvPicPr>
          <p:cNvPr id="10" name="Next 2 icon" descr="Next 2 icon">    </p:cNvPr>
          <p:cNvPicPr>
            <a:picLocks noChangeAspect="1"/>
          </p:cNvPicPr>
          <p:nvPr/>
        </p:nvPicPr>
        <p:blipFill>
          <a:blip r:embed="rId2"/>
          <a:stretch>
            <a:fillRect/>
          </a:stretch>
        </p:blipFill>
        <p:spPr>
          <a:xfrm>
            <a:off x="6681521" y="1885493"/>
            <a:ext cx="380390" cy="380390"/>
          </a:xfrm>
          <a:prstGeom prst="rect">
            <a:avLst/>
          </a:prstGeom>
        </p:spPr>
      </p:pic>
      <p:sp>
        <p:nvSpPr>
          <p:cNvPr id="11" name="Text 7"/>
          <p:cNvSpPr txBox="1"/>
          <p:nvPr/>
        </p:nvSpPr>
        <p:spPr>
          <a:xfrm>
            <a:off x="7420356" y="1691640"/>
            <a:ext cx="4023360" cy="411480"/>
          </a:xfrm>
          <a:prstGeom prst="rect">
            <a:avLst/>
          </a:prstGeom>
          <a:noFill/>
          <a:ln/>
        </p:spPr>
        <p:txBody>
          <a:bodyPr wrap="square" lIns="0" tIns="0" rIns="0" bIns="0" rtlCol="0" anchor="t"/>
          <a:lstStyle/>
          <a:p>
            <a:pPr indent="0" marL="0">
              <a:buNone/>
            </a:pPr>
            <a:r>
              <a:rPr lang="en-US" sz="1800" b="1" dirty="0">
                <a:solidFill>
                  <a:schemeClr val="tx1"/>
                </a:solidFill>
              </a:rPr>
              <a:t>A public online demo</a:t>
            </a:r>
            <a:endParaRPr lang="en-US" sz="1800" dirty="0"/>
          </a:p>
        </p:txBody>
      </p:sp>
      <p:sp>
        <p:nvSpPr>
          <p:cNvPr id="12" name="Text 8"/>
          <p:cNvSpPr txBox="1"/>
          <p:nvPr/>
        </p:nvSpPr>
        <p:spPr>
          <a:xfrm>
            <a:off x="7420356" y="2167128"/>
            <a:ext cx="4023360" cy="1188720"/>
          </a:xfrm>
          <a:prstGeom prst="rect">
            <a:avLst/>
          </a:prstGeom>
          <a:noFill/>
          <a:ln/>
        </p:spPr>
        <p:txBody>
          <a:bodyPr wrap="square" lIns="0" tIns="0" rIns="0" bIns="0" rtlCol="0" anchor="t"/>
          <a:lstStyle/>
          <a:p>
            <a:pPr indent="0" marL="0">
              <a:buNone/>
            </a:pPr>
            <a:r>
              <a:rPr lang="en-US" sz="1500" dirty="0">
                <a:solidFill>
                  <a:schemeClr val="tx1"/>
                </a:solidFill>
              </a:rPr>
              <a:t>The Docker image is built and tested; deploying it to a free host gives anyone a link to try the application.</a:t>
            </a:r>
            <a:endParaRPr lang="en-US" sz="1500" dirty="0"/>
          </a:p>
        </p:txBody>
      </p:sp>
      <p:sp>
        <p:nvSpPr>
          <p:cNvPr id="13" name="Next card 3"/>
          <p:cNvSpPr/>
          <p:nvPr/>
        </p:nvSpPr>
        <p:spPr>
          <a:xfrm>
            <a:off x="548640" y="3794760"/>
            <a:ext cx="5408676" cy="2103120"/>
          </a:xfrm>
          <a:prstGeom prst="roundRect">
            <a:avLst>
              <a:gd name="adj" fmla="val 5217"/>
            </a:avLst>
          </a:prstGeom>
          <a:solidFill>
            <a:schemeClr val="bg2"/>
          </a:solidFill>
          <a:ln w="12700">
            <a:solidFill>
              <a:schemeClr val="bg2"/>
            </a:solidFill>
            <a:prstDash val="solid"/>
          </a:ln>
        </p:spPr>
      </p:sp>
      <p:sp>
        <p:nvSpPr>
          <p:cNvPr id="14" name="Next 3 circle"/>
          <p:cNvSpPr/>
          <p:nvPr/>
        </p:nvSpPr>
        <p:spPr>
          <a:xfrm>
            <a:off x="822960" y="4087368"/>
            <a:ext cx="731520" cy="731520"/>
          </a:xfrm>
          <a:prstGeom prst="ellipse">
            <a:avLst/>
          </a:prstGeom>
          <a:solidFill>
            <a:schemeClr val="accent3"/>
          </a:solidFill>
          <a:ln w="12700">
            <a:solidFill>
              <a:schemeClr val="accent3"/>
            </a:solidFill>
            <a:prstDash val="solid"/>
          </a:ln>
        </p:spPr>
      </p:sp>
      <p:pic>
        <p:nvPicPr>
          <p:cNvPr id="15" name="Next 3 icon" descr="Next 3 icon">    </p:cNvPr>
          <p:cNvPicPr>
            <a:picLocks noChangeAspect="1"/>
          </p:cNvPicPr>
          <p:nvPr/>
        </p:nvPicPr>
        <p:blipFill>
          <a:blip r:embed="rId3"/>
          <a:stretch>
            <a:fillRect/>
          </a:stretch>
        </p:blipFill>
        <p:spPr>
          <a:xfrm>
            <a:off x="998525" y="4262933"/>
            <a:ext cx="380390" cy="380390"/>
          </a:xfrm>
          <a:prstGeom prst="rect">
            <a:avLst/>
          </a:prstGeom>
        </p:spPr>
      </p:pic>
      <p:sp>
        <p:nvSpPr>
          <p:cNvPr id="16" name="Text 11"/>
          <p:cNvSpPr txBox="1"/>
          <p:nvPr/>
        </p:nvSpPr>
        <p:spPr>
          <a:xfrm>
            <a:off x="1737360" y="4069080"/>
            <a:ext cx="4023360" cy="411480"/>
          </a:xfrm>
          <a:prstGeom prst="rect">
            <a:avLst/>
          </a:prstGeom>
          <a:noFill/>
          <a:ln/>
        </p:spPr>
        <p:txBody>
          <a:bodyPr wrap="square" lIns="0" tIns="0" rIns="0" bIns="0" rtlCol="0" anchor="t"/>
          <a:lstStyle/>
          <a:p>
            <a:pPr indent="0" marL="0">
              <a:buNone/>
            </a:pPr>
            <a:r>
              <a:rPr lang="en-US" sz="1800" b="1" dirty="0">
                <a:solidFill>
                  <a:schemeClr val="tx1"/>
                </a:solidFill>
              </a:rPr>
              <a:t>Validation on Indian patients</a:t>
            </a:r>
            <a:endParaRPr lang="en-US" sz="1800" dirty="0"/>
          </a:p>
        </p:txBody>
      </p:sp>
      <p:sp>
        <p:nvSpPr>
          <p:cNvPr id="17" name="Text 12"/>
          <p:cNvSpPr txBox="1"/>
          <p:nvPr/>
        </p:nvSpPr>
        <p:spPr>
          <a:xfrm>
            <a:off x="1737360" y="4544568"/>
            <a:ext cx="4023360" cy="1188720"/>
          </a:xfrm>
          <a:prstGeom prst="rect">
            <a:avLst/>
          </a:prstGeom>
          <a:noFill/>
          <a:ln/>
        </p:spPr>
        <p:txBody>
          <a:bodyPr wrap="square" lIns="0" tIns="0" rIns="0" bIns="0" rtlCol="0" anchor="t"/>
          <a:lstStyle/>
          <a:p>
            <a:pPr indent="0" marL="0">
              <a:buNone/>
            </a:pPr>
            <a:r>
              <a:rPr lang="en-US" sz="1500" dirty="0">
                <a:solidFill>
                  <a:schemeClr val="tx1"/>
                </a:solidFill>
              </a:rPr>
              <a:t>Real outcomes from a consented Indian cohort, such as GenomeIndia data through the Indian Biological Data Centre, would test the simulated findings.</a:t>
            </a:r>
            <a:endParaRPr lang="en-US" sz="1500" dirty="0"/>
          </a:p>
        </p:txBody>
      </p:sp>
      <p:sp>
        <p:nvSpPr>
          <p:cNvPr id="18" name="Next card 4"/>
          <p:cNvSpPr/>
          <p:nvPr/>
        </p:nvSpPr>
        <p:spPr>
          <a:xfrm>
            <a:off x="6231636" y="3794760"/>
            <a:ext cx="5408676" cy="2103120"/>
          </a:xfrm>
          <a:prstGeom prst="roundRect">
            <a:avLst>
              <a:gd name="adj" fmla="val 5217"/>
            </a:avLst>
          </a:prstGeom>
          <a:solidFill>
            <a:schemeClr val="bg2"/>
          </a:solidFill>
          <a:ln w="12700">
            <a:solidFill>
              <a:schemeClr val="bg2"/>
            </a:solidFill>
            <a:prstDash val="solid"/>
          </a:ln>
        </p:spPr>
      </p:sp>
      <p:sp>
        <p:nvSpPr>
          <p:cNvPr id="19" name="Next 4 circle"/>
          <p:cNvSpPr/>
          <p:nvPr/>
        </p:nvSpPr>
        <p:spPr>
          <a:xfrm>
            <a:off x="6505956" y="4087368"/>
            <a:ext cx="731520" cy="731520"/>
          </a:xfrm>
          <a:prstGeom prst="ellipse">
            <a:avLst/>
          </a:prstGeom>
          <a:solidFill>
            <a:schemeClr val="accent4"/>
          </a:solidFill>
          <a:ln w="12700">
            <a:solidFill>
              <a:schemeClr val="accent4"/>
            </a:solidFill>
            <a:prstDash val="solid"/>
          </a:ln>
        </p:spPr>
      </p:sp>
      <p:pic>
        <p:nvPicPr>
          <p:cNvPr id="20" name="Next 4 icon" descr="Next 4 icon">    </p:cNvPr>
          <p:cNvPicPr>
            <a:picLocks noChangeAspect="1"/>
          </p:cNvPicPr>
          <p:nvPr/>
        </p:nvPicPr>
        <p:blipFill>
          <a:blip r:embed="rId4"/>
          <a:stretch>
            <a:fillRect/>
          </a:stretch>
        </p:blipFill>
        <p:spPr>
          <a:xfrm>
            <a:off x="6681521" y="4262933"/>
            <a:ext cx="380390" cy="380390"/>
          </a:xfrm>
          <a:prstGeom prst="rect">
            <a:avLst/>
          </a:prstGeom>
        </p:spPr>
      </p:pic>
      <p:sp>
        <p:nvSpPr>
          <p:cNvPr id="21" name="Text 15"/>
          <p:cNvSpPr txBox="1"/>
          <p:nvPr/>
        </p:nvSpPr>
        <p:spPr>
          <a:xfrm>
            <a:off x="7420356" y="4069080"/>
            <a:ext cx="4023360" cy="411480"/>
          </a:xfrm>
          <a:prstGeom prst="rect">
            <a:avLst/>
          </a:prstGeom>
          <a:noFill/>
          <a:ln/>
        </p:spPr>
        <p:txBody>
          <a:bodyPr wrap="square" lIns="0" tIns="0" rIns="0" bIns="0" rtlCol="0" anchor="t"/>
          <a:lstStyle/>
          <a:p>
            <a:pPr indent="0" marL="0">
              <a:buNone/>
            </a:pPr>
            <a:r>
              <a:rPr lang="en-US" sz="1800" b="1" dirty="0">
                <a:solidFill>
                  <a:schemeClr val="tx1"/>
                </a:solidFill>
              </a:rPr>
              <a:t>Better imputation, more ancestries</a:t>
            </a:r>
            <a:endParaRPr lang="en-US" sz="1800" dirty="0"/>
          </a:p>
        </p:txBody>
      </p:sp>
      <p:sp>
        <p:nvSpPr>
          <p:cNvPr id="22" name="Text 16"/>
          <p:cNvSpPr txBox="1"/>
          <p:nvPr/>
        </p:nvSpPr>
        <p:spPr>
          <a:xfrm>
            <a:off x="7420356" y="4544568"/>
            <a:ext cx="4023360" cy="1188720"/>
          </a:xfrm>
          <a:prstGeom prst="rect">
            <a:avLst/>
          </a:prstGeom>
          <a:noFill/>
          <a:ln/>
        </p:spPr>
        <p:txBody>
          <a:bodyPr wrap="square" lIns="0" tIns="0" rIns="0" bIns="0" rtlCol="0" anchor="t"/>
          <a:lstStyle/>
          <a:p>
            <a:pPr indent="0" marL="0">
              <a:buNone/>
            </a:pPr>
            <a:r>
              <a:rPr lang="en-US" sz="1500" dirty="0">
                <a:solidFill>
                  <a:schemeClr val="tx1"/>
                </a:solidFill>
              </a:rPr>
              <a:t>A larger reference panel and models for other ancestries would extend reliable reports beyond South Asians.</a:t>
            </a:r>
            <a:endParaRPr lang="en-US" sz="1500" dirty="0"/>
          </a:p>
        </p:txBody>
      </p:sp>
      <p:sp>
        <p:nvSpPr>
          <p:cNvPr id="25" name="Slide Number Placeholder 0"/>
          <p:cNvSpPr>
            <a:spLocks noGrp="1"/>
          </p:cNvSpPr>
          <p:nvPr>
            <p:ph type="sldNum" sz="quarter" idx="4294967295"/>
          </p:nvPr>
        </p:nvSpPr>
        <p:spPr>
          <a:xfrm>
            <a:off x="10911535" y="6400800"/>
            <a:ext cx="7315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9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7315200" cy="1005840"/>
          </a:xfrm>
          <a:prstGeom prst="rect">
            <a:avLst/>
          </a:prstGeom>
          <a:noFill/>
          <a:ln/>
        </p:spPr>
        <p:txBody>
          <a:bodyPr wrap="square" lIns="0" tIns="0" rIns="0" bIns="0" rtlCol="0" anchor="b"/>
          <a:lstStyle/>
          <a:p>
            <a:pPr algn="l" indent="0" marL="0">
              <a:buNone/>
            </a:pPr>
            <a:r>
              <a:rPr lang="en-US" sz="5400" b="1" dirty="0">
                <a:solidFill>
                  <a:schemeClr val="bg1"/>
                </a:solidFill>
              </a:rPr>
              <a:t>Thank you</a:t>
            </a:r>
            <a:endParaRPr lang="en-US" sz="5400" dirty="0"/>
          </a:p>
        </p:txBody>
      </p:sp>
      <p:sp>
        <p:nvSpPr>
          <p:cNvPr id="3" name="Text 0"/>
          <p:cNvSpPr/>
          <p:nvPr>
            <p:ph idx="101" type="body" hasCustomPrompt="1"/>
          </p:nvPr>
        </p:nvSpPr>
        <p:spPr>
          <a:xfrm>
            <a:off x="731520" y="1920240"/>
            <a:ext cx="6949440" cy="548640"/>
          </a:xfrm>
          <a:prstGeom prst="rect">
            <a:avLst/>
          </a:prstGeom>
          <a:noFill/>
          <a:ln/>
        </p:spPr>
        <p:txBody>
          <a:bodyPr wrap="square" lIns="0" tIns="0" rIns="0" bIns="0" rtlCol="0" anchor="t"/>
          <a:lstStyle/>
          <a:p>
            <a:pPr indent="0" marL="0">
              <a:buNone/>
            </a:pPr>
            <a:r>
              <a:rPr lang="en-US" sz="2200" dirty="0">
                <a:solidFill>
                  <a:schemeClr val="bg2"/>
                </a:solidFill>
              </a:rPr>
              <a:t>Questions and feedback are welcome</a:t>
            </a:r>
            <a:endParaRPr lang="en-US" sz="2200" dirty="0"/>
          </a:p>
        </p:txBody>
      </p:sp>
      <p:sp>
        <p:nvSpPr>
          <p:cNvPr id="4" name="Text 2"/>
          <p:cNvSpPr txBox="1"/>
          <p:nvPr/>
        </p:nvSpPr>
        <p:spPr>
          <a:xfrm>
            <a:off x="731520" y="2697480"/>
            <a:ext cx="7589520" cy="24688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bg1"/>
                </a:solidFill>
              </a:rPr>
              <a:t>Genetics nearly doubles the lean diabetes cases caught (30% → 58%), in every population and every setting tested.</a:t>
            </a:r>
            <a:endParaRPr lang="en-US" sz="1700" dirty="0"/>
          </a:p>
          <a:p>
            <a:pPr marL="342900" indent="-342900">
              <a:spcAft>
                <a:spcPts val="1000"/>
              </a:spcAft>
              <a:buSzPct val="100000"/>
              <a:buChar char="•"/>
            </a:pPr>
            <a:r>
              <a:rPr lang="en-US" sz="1700" dirty="0">
                <a:solidFill>
                  <a:schemeClr val="bg1"/>
                </a:solidFill>
              </a:rPr>
              <a:t>The interaction search finds 70–84% of planted pairs and stays quiet when there are none.</a:t>
            </a:r>
            <a:endParaRPr lang="en-US" sz="1700" dirty="0"/>
          </a:p>
          <a:p>
            <a:pPr marL="342900" indent="-342900">
              <a:spcAft>
                <a:spcPts val="1000"/>
              </a:spcAft>
              <a:buSzPct val="100000"/>
              <a:buChar char="•"/>
            </a:pPr>
            <a:r>
              <a:rPr lang="en-US" sz="1700" dirty="0">
                <a:solidFill>
                  <a:schemeClr val="bg1"/>
                </a:solidFill>
              </a:rPr>
              <a:t>Quantum methods, measured against classical controls: no advantage yet, and mitigation recovers most of the noise.</a:t>
            </a:r>
            <a:endParaRPr lang="en-US" sz="1700" dirty="0"/>
          </a:p>
          <a:p>
            <a:pPr marL="342900" indent="-342900">
              <a:spcAft>
                <a:spcPts val="1000"/>
              </a:spcAft>
              <a:buSzPct val="100000"/>
              <a:buChar char="•"/>
            </a:pPr>
            <a:r>
              <a:rPr lang="en-US" sz="1700" dirty="0">
                <a:solidFill>
                  <a:schemeClr val="bg1"/>
                </a:solidFill>
              </a:rPr>
              <a:t>A working, tested application turns a consumer DNA file into an explained report.</a:t>
            </a:r>
            <a:endParaRPr lang="en-US" sz="1700" dirty="0"/>
          </a:p>
        </p:txBody>
      </p:sp>
      <p:sp>
        <p:nvSpPr>
          <p:cNvPr id="5" name="People panel"/>
          <p:cNvSpPr/>
          <p:nvPr/>
        </p:nvSpPr>
        <p:spPr>
          <a:xfrm>
            <a:off x="548640" y="5349240"/>
            <a:ext cx="11094415" cy="1005840"/>
          </a:xfrm>
          <a:prstGeom prst="roundRect">
            <a:avLst>
              <a:gd name="adj" fmla="val 13636"/>
            </a:avLst>
          </a:prstGeom>
          <a:solidFill>
            <a:schemeClr val="bg1">
              <a:alpha val="9000"/>
            </a:schemeClr>
          </a:solidFill>
          <a:ln w="12700">
            <a:solidFill>
              <a:schemeClr val="bg1">
                <a:alpha val="0"/>
              </a:schemeClr>
            </a:solidFill>
            <a:prstDash val="solid"/>
          </a:ln>
        </p:spPr>
      </p:sp>
      <p:sp>
        <p:nvSpPr>
          <p:cNvPr id="6" name="People"/>
          <p:cNvSpPr txBox="1"/>
          <p:nvPr/>
        </p:nvSpPr>
        <p:spPr>
          <a:xfrm>
            <a:off x="914400" y="5458968"/>
            <a:ext cx="10424160" cy="777240"/>
          </a:xfrm>
          <a:prstGeom prst="rect">
            <a:avLst/>
          </a:prstGeom>
          <a:noFill/>
          <a:ln/>
        </p:spPr>
        <p:txBody>
          <a:bodyPr wrap="square" lIns="0" tIns="0" rIns="0" bIns="0" rtlCol="0" anchor="ctr"/>
          <a:lstStyle/>
          <a:p>
            <a:pPr indent="0" marL="0">
              <a:spcAft>
                <a:spcPts val="400"/>
              </a:spcAft>
              <a:buNone/>
            </a:pPr>
            <a:r>
              <a:rPr lang="en-US" sz="1100" b="1" spc="200" kern="0" dirty="0">
                <a:solidFill>
                  <a:schemeClr val="bg2"/>
                </a:solidFill>
              </a:rPr>
              <a:t>PRESENTED BY   </a:t>
            </a:r>
            <a:pPr indent="0" marL="0">
              <a:spcAft>
                <a:spcPts val="400"/>
              </a:spcAft>
              <a:buNone/>
            </a:pPr>
            <a:r>
              <a:rPr lang="en-US" sz="1400" dirty="0">
                <a:solidFill>
                  <a:schemeClr val="bg1"/>
                </a:solidFill>
              </a:rPr>
              <a:t>Aritro Chowdhury  ·  Suyash Gupta  ·  Rishabh Sharma  ·  Akshat Ahuja  ·  Anshh Pasriccha</a:t>
            </a:r>
            <a:endParaRPr lang="en-US" sz="1500" dirty="0"/>
          </a:p>
          <a:p>
            <a:pPr indent="0" marL="0">
              <a:spcAft>
                <a:spcPts val="400"/>
              </a:spcAft>
              <a:buNone/>
            </a:pPr>
            <a:r>
              <a:rPr lang="en-US" sz="1100" b="1" spc="200" kern="0" dirty="0">
                <a:solidFill>
                  <a:schemeClr val="bg2"/>
                </a:solidFill>
              </a:rPr>
              <a:t>GUIDED BY   </a:t>
            </a:r>
            <a:pPr indent="0" marL="0">
              <a:spcAft>
                <a:spcPts val="400"/>
              </a:spcAft>
              <a:buNone/>
            </a:pPr>
            <a:r>
              <a:rPr lang="en-US" sz="1400" dirty="0">
                <a:solidFill>
                  <a:schemeClr val="bg1"/>
                </a:solidFill>
              </a:rPr>
              <a:t>Dr. Husanbir Singh Pannu, Assistant Professor, CSED, Thapar Institute of Engineering and Technology, Patiala</a:t>
            </a:r>
            <a:endParaRPr lang="en-US" sz="1500" dirty="0"/>
          </a:p>
        </p:txBody>
      </p:sp>
      <p:sp>
        <p:nvSpPr>
          <p:cNvPr id="7" name="Closing DNA circle"/>
          <p:cNvSpPr/>
          <p:nvPr/>
        </p:nvSpPr>
        <p:spPr>
          <a:xfrm>
            <a:off x="8915400" y="1463040"/>
            <a:ext cx="2377440" cy="2377440"/>
          </a:xfrm>
          <a:prstGeom prst="ellipse">
            <a:avLst/>
          </a:prstGeom>
          <a:solidFill>
            <a:schemeClr val="accent1"/>
          </a:solidFill>
          <a:ln w="12700">
            <a:solidFill>
              <a:schemeClr val="accent1"/>
            </a:solidFill>
            <a:prstDash val="solid"/>
          </a:ln>
        </p:spPr>
      </p:sp>
      <p:pic>
        <p:nvPicPr>
          <p:cNvPr id="8" name="Closing DNA icon" descr="Closing DNA icon">    </p:cNvPr>
          <p:cNvPicPr>
            <a:picLocks noChangeAspect="1"/>
          </p:cNvPicPr>
          <p:nvPr/>
        </p:nvPicPr>
        <p:blipFill>
          <a:blip r:embed="rId1"/>
          <a:stretch>
            <a:fillRect/>
          </a:stretch>
        </p:blipFill>
        <p:spPr>
          <a:xfrm>
            <a:off x="9485986" y="2033626"/>
            <a:ext cx="1236269" cy="1236269"/>
          </a:xfrm>
          <a:prstGeom prst="rect">
            <a:avLst/>
          </a:prstGeom>
        </p:spPr>
      </p:pic>
    </p:spTree>
  </p:cSld>
  <p:clrMapOvr>
    <a:masterClrMapping/>
  </p:clrMapOvr>
</p:sld>
</file>

<file path=ppt/theme/theme1.xml><?xml version="1.0" encoding="utf-8"?>
<a:theme xmlns:a="http://schemas.openxmlformats.org/drawingml/2006/main" name="QGenomix">
  <a:themeElements>
    <a:clrScheme name="QGenomix">
      <a:dk1>
        <a:srgbClr val="15232B"/>
      </a:dk1>
      <a:lt1>
        <a:srgbClr val="FFFFFF"/>
      </a:lt1>
      <a:dk2>
        <a:srgbClr val="0D3D46"/>
      </a:dk2>
      <a:lt2>
        <a:srgbClr val="E3F0EE"/>
      </a:lt2>
      <a:accent1>
        <a:srgbClr val="0A756F"/>
      </a:accent1>
      <a:accent2>
        <a:srgbClr val="5A4FB0"/>
      </a:accent2>
      <a:accent3>
        <a:srgbClr val="B3261E"/>
      </a:accent3>
      <a:accent4>
        <a:srgbClr val="A8650A"/>
      </a:accent4>
      <a:accent5>
        <a:srgbClr val="8A979E"/>
      </a:accent5>
      <a:accent6>
        <a:srgbClr val="1D7F47"/>
      </a:accent6>
      <a:hlink>
        <a:srgbClr val="0A756F"/>
      </a:hlink>
      <a:folHlink>
        <a:srgbClr val="5A4FB0"/>
      </a:folHlink>
    </a:clrScheme>
    <a:fontScheme name="QGenomix">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Thapar Institute of Engineering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QGenomix</dc:title>
  <dc:subject>Quantum-assisted genetic screening for early-onset type 2 diabetes in lean South Asians</dc:subject>
  <dc:creator>Aritro Chowdhury, Suyash Gupta, Rishabh Sharma, Akshat Ahuja, Anshh Pasriccha</dc:creator>
  <cp:lastModifiedBy>Aritro Chowdhury, Suyash Gupta, Rishabh Sharma, Akshat Ahuja, Anshh Pasriccha</cp:lastModifiedBy>
  <cp:revision>1</cp:revision>
  <dcterms:created xsi:type="dcterms:W3CDTF">2026-10-27T15:26:04Z</dcterms:created>
  <dcterms:modified xsi:type="dcterms:W3CDTF">2026-10-27T15:26:04Z</dcterms:modified>
</cp:coreProperties>
</file>